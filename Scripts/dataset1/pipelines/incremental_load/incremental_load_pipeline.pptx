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94660"/>
  </p:normalViewPr>
  <p:slideViewPr>
    <p:cSldViewPr snapToGrid="0">
      <p:cViewPr>
        <p:scale>
          <a:sx n="100" d="100"/>
          <a:sy n="100" d="100"/>
        </p:scale>
        <p:origin x="94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412DD-9A92-E240-B4B4-0898FA7F95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F36217-06F1-3719-326A-1A07B22BA5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B1DC86-0678-0CA4-AA36-3CBFEA17859D}"/>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5" name="Footer Placeholder 4">
            <a:extLst>
              <a:ext uri="{FF2B5EF4-FFF2-40B4-BE49-F238E27FC236}">
                <a16:creationId xmlns:a16="http://schemas.microsoft.com/office/drawing/2014/main" id="{2E132DFF-F2C2-34BA-A645-7206CB050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FFADAE-56AC-EBA5-CDA0-8E3DB9546C09}"/>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074107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00A48-5FFD-60CF-C21E-DCA392B2B7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93FE04-BA08-9777-307D-8D2260E088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12DA1-791A-A6B4-133B-D16772503B70}"/>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5" name="Footer Placeholder 4">
            <a:extLst>
              <a:ext uri="{FF2B5EF4-FFF2-40B4-BE49-F238E27FC236}">
                <a16:creationId xmlns:a16="http://schemas.microsoft.com/office/drawing/2014/main" id="{4A5D8E08-6952-5188-A806-35CA2772C9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395F84-ADE8-AC25-AFDD-2492C34E9587}"/>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769298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B3568-3E54-0369-5F3E-67CCE3784E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AC299E-5EE8-00C7-3429-C210E1BD89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A7B9CC-E437-B47F-033F-FE912A056761}"/>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5" name="Footer Placeholder 4">
            <a:extLst>
              <a:ext uri="{FF2B5EF4-FFF2-40B4-BE49-F238E27FC236}">
                <a16:creationId xmlns:a16="http://schemas.microsoft.com/office/drawing/2014/main" id="{ECA7A60D-2D8F-B1D6-DF27-60E970204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36269C-2902-18F9-8241-E0C58B40FEF8}"/>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95462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2393-8408-83CD-FCF0-D3F00B1B85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CF8A90-FF1A-6E9C-1093-E018622C13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728FEA-0791-994F-BB3A-FBD369FE27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58EA2E-2EB5-5B89-2A0B-F19A94D9489A}"/>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6" name="Footer Placeholder 5">
            <a:extLst>
              <a:ext uri="{FF2B5EF4-FFF2-40B4-BE49-F238E27FC236}">
                <a16:creationId xmlns:a16="http://schemas.microsoft.com/office/drawing/2014/main" id="{4EB8742F-7B1E-7D1C-3CAD-C6612FF2A0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C81658-603C-CF24-901B-3E067DE9EF7D}"/>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4036441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B3E6-4C2E-F537-8986-584E8E9E35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889872-3129-8645-C228-6663F15E4A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471F5C-D015-8C8B-692B-E51D28FF02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214CF0-85ED-56AA-38DC-343FEF3EF3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3DBAEA-A9A1-33C5-C356-FEECF6C886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B35CC4-5ABA-8E9B-366B-D1FFBC7E7856}"/>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8" name="Footer Placeholder 7">
            <a:extLst>
              <a:ext uri="{FF2B5EF4-FFF2-40B4-BE49-F238E27FC236}">
                <a16:creationId xmlns:a16="http://schemas.microsoft.com/office/drawing/2014/main" id="{1D7E5F6E-0656-E868-B50A-BAFCCE364B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AF7F00-9939-6E41-B40B-FE5AACFB997A}"/>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96193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45F0F-D02C-BF0D-E131-B58AF26C85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2396C9-D861-4563-66B6-09AB7D8E4893}"/>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4" name="Footer Placeholder 3">
            <a:extLst>
              <a:ext uri="{FF2B5EF4-FFF2-40B4-BE49-F238E27FC236}">
                <a16:creationId xmlns:a16="http://schemas.microsoft.com/office/drawing/2014/main" id="{859C7BAF-AC33-0B78-FD88-69D706A34C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65EDD3-E27C-4E7C-F7C0-CB6648029B0C}"/>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106605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39747B-60DA-EB51-6D62-8C283BEB1198}"/>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3" name="Footer Placeholder 2">
            <a:extLst>
              <a:ext uri="{FF2B5EF4-FFF2-40B4-BE49-F238E27FC236}">
                <a16:creationId xmlns:a16="http://schemas.microsoft.com/office/drawing/2014/main" id="{12CC2D93-05D2-16BD-C249-219FD1C492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0721D0-43EE-1182-79F9-B3E89159B84C}"/>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2670889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1A597-A429-6A1F-6EA8-A28F3F7957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59085B-BE60-EE5E-2DA2-E28625DEA7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7F8780-3A73-97B1-05F6-717A1440F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765B5-9FFB-0ADD-223E-5CC32467F149}"/>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6" name="Footer Placeholder 5">
            <a:extLst>
              <a:ext uri="{FF2B5EF4-FFF2-40B4-BE49-F238E27FC236}">
                <a16:creationId xmlns:a16="http://schemas.microsoft.com/office/drawing/2014/main" id="{71C214B4-53C3-6299-1997-5BC42D1DD4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4B14A-E2A2-6B5C-CC79-0BB4AC7FD2DF}"/>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2857856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8967-DA37-5B48-C384-16D9FA1DB4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4D3C3F-4F1F-8463-02FC-983899C6E9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DD40E2-4310-7E01-C505-7FE1CD5FF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140780-8046-44C3-2C19-7D46718297AF}"/>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6" name="Footer Placeholder 5">
            <a:extLst>
              <a:ext uri="{FF2B5EF4-FFF2-40B4-BE49-F238E27FC236}">
                <a16:creationId xmlns:a16="http://schemas.microsoft.com/office/drawing/2014/main" id="{8A49D302-43B5-C942-6D76-6F9BB42343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9C10C0-290B-54C4-33A5-A23BDF64EE84}"/>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120656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7BB1-6416-2963-3DC5-9955A582DE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FD8966-1BC5-9D11-044C-7AA9F9990A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ED656-B8F3-6938-BF83-D4554ACD56C7}"/>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5" name="Footer Placeholder 4">
            <a:extLst>
              <a:ext uri="{FF2B5EF4-FFF2-40B4-BE49-F238E27FC236}">
                <a16:creationId xmlns:a16="http://schemas.microsoft.com/office/drawing/2014/main" id="{D507ACF1-24A4-826D-A2D0-E63AD98C88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A7FDB-0E75-CDCF-9BCF-DEFA0D6F1BF7}"/>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991687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3396FD-7940-DC40-144B-18C34067B5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BA76CF-6AC6-7921-B4AC-EA083D70EE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6A464-4F8F-6BD8-76F3-C02F0539F085}"/>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5" name="Footer Placeholder 4">
            <a:extLst>
              <a:ext uri="{FF2B5EF4-FFF2-40B4-BE49-F238E27FC236}">
                <a16:creationId xmlns:a16="http://schemas.microsoft.com/office/drawing/2014/main" id="{161D3BB8-5D0A-B1ED-A658-88318B06C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78DD80-339D-8A07-697F-140A1011A205}"/>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69237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27999F-5694-F371-657B-DDBEC2CE49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5F3F5B-71FB-9FA1-0352-A297B24D62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EC106-2E0D-2043-B6F8-B12C0C8CD3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ECDF31-714C-4373-9A45-DA9B30534DFA}" type="datetimeFigureOut">
              <a:rPr lang="en-US" smtClean="0"/>
              <a:t>5/18/2026</a:t>
            </a:fld>
            <a:endParaRPr lang="en-US"/>
          </a:p>
        </p:txBody>
      </p:sp>
      <p:sp>
        <p:nvSpPr>
          <p:cNvPr id="5" name="Footer Placeholder 4">
            <a:extLst>
              <a:ext uri="{FF2B5EF4-FFF2-40B4-BE49-F238E27FC236}">
                <a16:creationId xmlns:a16="http://schemas.microsoft.com/office/drawing/2014/main" id="{679CBF1F-F5DD-363D-7617-B3AB5D8EBF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DD23871-37F2-EEA7-5D2E-7133253C42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14171B-6EE0-49B9-97F9-2ADCF318155B}" type="slidenum">
              <a:rPr lang="en-US" smtClean="0"/>
              <a:t>‹#›</a:t>
            </a:fld>
            <a:endParaRPr lang="en-US"/>
          </a:p>
        </p:txBody>
      </p:sp>
    </p:spTree>
    <p:extLst>
      <p:ext uri="{BB962C8B-B14F-4D97-AF65-F5344CB8AC3E}">
        <p14:creationId xmlns:p14="http://schemas.microsoft.com/office/powerpoint/2010/main" val="2534947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0414A8E-95B3-77B4-DC8D-F1FE80AF1809}"/>
              </a:ext>
            </a:extLst>
          </p:cNvPr>
          <p:cNvSpPr/>
          <p:nvPr/>
        </p:nvSpPr>
        <p:spPr>
          <a:xfrm>
            <a:off x="638112" y="3745218"/>
            <a:ext cx="4729213" cy="1323439"/>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Lookup activity</a:t>
            </a:r>
          </a:p>
          <a:p>
            <a:endParaRPr lang="en-US" sz="2000" dirty="0">
              <a:ln w="0"/>
              <a:effectLst>
                <a:outerShdw blurRad="38100" dist="19050" dir="2700000" algn="tl" rotWithShape="0">
                  <a:schemeClr val="dk1">
                    <a:alpha val="40000"/>
                  </a:schemeClr>
                </a:outerShdw>
              </a:effectLst>
            </a:endParaRPr>
          </a:p>
          <a:p>
            <a:r>
              <a:rPr lang="en-US" sz="2000" dirty="0">
                <a:ln w="0"/>
                <a:effectLst>
                  <a:outerShdw blurRad="38100" dist="19050" dir="2700000" algn="tl" rotWithShape="0">
                    <a:schemeClr val="dk1">
                      <a:alpha val="40000"/>
                    </a:schemeClr>
                  </a:outerShdw>
                </a:effectLst>
              </a:rPr>
              <a:t>It applies a query to the watermark table to get the last loaded date for the table</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CB1C66F7-2FC5-7EA6-456E-B4B6181D0DF6}"/>
              </a:ext>
            </a:extLst>
          </p:cNvPr>
          <p:cNvSpPr/>
          <p:nvPr/>
        </p:nvSpPr>
        <p:spPr>
          <a:xfrm>
            <a:off x="347180" y="117967"/>
            <a:ext cx="11653142" cy="584775"/>
          </a:xfrm>
          <a:prstGeom prst="rect">
            <a:avLst/>
          </a:prstGeom>
          <a:noFill/>
        </p:spPr>
        <p:txBody>
          <a:bodyPr wrap="squar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The </a:t>
            </a:r>
            <a:r>
              <a:rPr lang="en-US" sz="1600" dirty="0">
                <a:ln w="0"/>
                <a:effectLst>
                  <a:outerShdw blurRad="38100" dist="19050" dir="2700000" algn="tl" rotWithShape="0">
                    <a:schemeClr val="dk1">
                      <a:alpha val="40000"/>
                    </a:schemeClr>
                  </a:outerShdw>
                </a:effectLst>
              </a:rPr>
              <a:t>purpose of the incremental load is to load the data in an incremental mode into the bronze layer and after that process the data using spark notebook and load it incrementally into the silver layer. This pipeline is scheduled once a day</a:t>
            </a:r>
          </a:p>
        </p:txBody>
      </p:sp>
      <p:pic>
        <p:nvPicPr>
          <p:cNvPr id="3" name="Picture 2">
            <a:extLst>
              <a:ext uri="{FF2B5EF4-FFF2-40B4-BE49-F238E27FC236}">
                <a16:creationId xmlns:a16="http://schemas.microsoft.com/office/drawing/2014/main" id="{F0C0019E-F6CC-B86D-C757-30BF3D98A8C9}"/>
              </a:ext>
            </a:extLst>
          </p:cNvPr>
          <p:cNvPicPr>
            <a:picLocks noChangeAspect="1"/>
          </p:cNvPicPr>
          <p:nvPr/>
        </p:nvPicPr>
        <p:blipFill>
          <a:blip r:embed="rId2"/>
          <a:srcRect t="8305" b="23784"/>
          <a:stretch>
            <a:fillRect/>
          </a:stretch>
        </p:blipFill>
        <p:spPr>
          <a:xfrm>
            <a:off x="719083" y="897232"/>
            <a:ext cx="10621857" cy="1248606"/>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69363185-9147-15BF-6B5D-ABAF7D5EAA1D}"/>
              </a:ext>
            </a:extLst>
          </p:cNvPr>
          <p:cNvPicPr>
            <a:picLocks noChangeAspect="1"/>
          </p:cNvPicPr>
          <p:nvPr/>
        </p:nvPicPr>
        <p:blipFill>
          <a:blip r:embed="rId3"/>
          <a:srcRect t="14141"/>
          <a:stretch>
            <a:fillRect/>
          </a:stretch>
        </p:blipFill>
        <p:spPr>
          <a:xfrm>
            <a:off x="6779719" y="2357781"/>
            <a:ext cx="4340163" cy="2354382"/>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C4901FAB-0C21-115D-0343-421DFB9DCB10}"/>
              </a:ext>
            </a:extLst>
          </p:cNvPr>
          <p:cNvPicPr>
            <a:picLocks noChangeAspect="1"/>
          </p:cNvPicPr>
          <p:nvPr/>
        </p:nvPicPr>
        <p:blipFill>
          <a:blip r:embed="rId4"/>
          <a:stretch>
            <a:fillRect/>
          </a:stretch>
        </p:blipFill>
        <p:spPr>
          <a:xfrm>
            <a:off x="6779719" y="4889200"/>
            <a:ext cx="4774169" cy="144354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51538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8FCF8CC-5CA6-E652-E2A8-42B88467CF77}"/>
              </a:ext>
            </a:extLst>
          </p:cNvPr>
          <p:cNvSpPr/>
          <p:nvPr/>
        </p:nvSpPr>
        <p:spPr>
          <a:xfrm>
            <a:off x="147223" y="2109519"/>
            <a:ext cx="5403688" cy="3170099"/>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First copy activity</a:t>
            </a:r>
          </a:p>
          <a:p>
            <a:endParaRPr lang="en-US" sz="2000" dirty="0">
              <a:ln w="0"/>
              <a:effectLst>
                <a:outerShdw blurRad="38100" dist="19050" dir="2700000" algn="tl" rotWithShape="0">
                  <a:schemeClr val="dk1">
                    <a:alpha val="40000"/>
                  </a:schemeClr>
                </a:outerShdw>
              </a:effectLst>
            </a:endParaRPr>
          </a:p>
          <a:p>
            <a:r>
              <a:rPr lang="en-US" sz="2000" dirty="0">
                <a:ln w="0"/>
                <a:effectLst>
                  <a:outerShdw blurRad="38100" dist="19050" dir="2700000" algn="tl" rotWithShape="0">
                    <a:schemeClr val="dk1">
                      <a:alpha val="40000"/>
                    </a:schemeClr>
                  </a:outerShdw>
                </a:effectLst>
              </a:rPr>
              <a:t>Source: It queries the source table to get only the new inserted data using the output of the lookup activity</a:t>
            </a:r>
          </a:p>
          <a:p>
            <a:endParaRPr lang="en-US" sz="2000" dirty="0">
              <a:ln w="0"/>
              <a:effectLst>
                <a:outerShdw blurRad="38100" dist="19050" dir="2700000" algn="tl" rotWithShape="0">
                  <a:schemeClr val="dk1">
                    <a:alpha val="40000"/>
                  </a:schemeClr>
                </a:outerShdw>
              </a:effectLst>
            </a:endParaRPr>
          </a:p>
          <a:p>
            <a:r>
              <a:rPr lang="en-US" sz="2000" dirty="0">
                <a:ln w="0"/>
                <a:effectLst>
                  <a:outerShdw blurRad="38100" dist="19050" dir="2700000" algn="tl" rotWithShape="0">
                    <a:schemeClr val="dk1">
                      <a:alpha val="40000"/>
                    </a:schemeClr>
                  </a:outerShdw>
                </a:effectLst>
              </a:rPr>
              <a:t>Destination: delta table in the </a:t>
            </a:r>
            <a:r>
              <a:rPr lang="en-US" sz="2000" dirty="0" err="1">
                <a:ln w="0"/>
                <a:effectLst>
                  <a:outerShdw blurRad="38100" dist="19050" dir="2700000" algn="tl" rotWithShape="0">
                    <a:schemeClr val="dk1">
                      <a:alpha val="40000"/>
                    </a:schemeClr>
                  </a:outerShdw>
                </a:effectLst>
              </a:rPr>
              <a:t>lakehouse</a:t>
            </a:r>
            <a:r>
              <a:rPr lang="en-US" sz="2000" dirty="0">
                <a:ln w="0"/>
                <a:effectLst>
                  <a:outerShdw blurRad="38100" dist="19050" dir="2700000" algn="tl" rotWithShape="0">
                    <a:schemeClr val="dk1">
                      <a:alpha val="40000"/>
                    </a:schemeClr>
                  </a:outerShdw>
                </a:effectLst>
              </a:rPr>
              <a:t> bronze layer. Append mode</a:t>
            </a:r>
          </a:p>
          <a:p>
            <a:endParaRPr lang="en-US" sz="2000" b="0" cap="none" spc="0" dirty="0">
              <a:ln w="0"/>
              <a:solidFill>
                <a:schemeClr val="tx1"/>
              </a:solidFill>
              <a:effectLst>
                <a:outerShdw blurRad="38100" dist="19050" dir="2700000" algn="tl" rotWithShape="0">
                  <a:schemeClr val="dk1">
                    <a:alpha val="40000"/>
                  </a:schemeClr>
                </a:outerShdw>
              </a:effectLst>
            </a:endParaRPr>
          </a:p>
          <a:p>
            <a:endParaRPr lang="en-US" sz="2000" b="0" cap="none" spc="0" dirty="0">
              <a:ln w="0"/>
              <a:solidFill>
                <a:schemeClr val="tx1"/>
              </a:solidFill>
              <a:effectLst>
                <a:outerShdw blurRad="38100" dist="19050" dir="2700000" algn="tl" rotWithShape="0">
                  <a:schemeClr val="dk1">
                    <a:alpha val="40000"/>
                  </a:schemeClr>
                </a:outerShdw>
              </a:effectLst>
            </a:endParaRPr>
          </a:p>
        </p:txBody>
      </p:sp>
      <p:pic>
        <p:nvPicPr>
          <p:cNvPr id="3" name="Picture 2">
            <a:extLst>
              <a:ext uri="{FF2B5EF4-FFF2-40B4-BE49-F238E27FC236}">
                <a16:creationId xmlns:a16="http://schemas.microsoft.com/office/drawing/2014/main" id="{8ED484AB-F4C1-B60F-5AC7-9CA83F2E4D84}"/>
              </a:ext>
            </a:extLst>
          </p:cNvPr>
          <p:cNvPicPr>
            <a:picLocks noChangeAspect="1"/>
          </p:cNvPicPr>
          <p:nvPr/>
        </p:nvPicPr>
        <p:blipFill>
          <a:blip r:embed="rId2"/>
          <a:stretch>
            <a:fillRect/>
          </a:stretch>
        </p:blipFill>
        <p:spPr>
          <a:xfrm>
            <a:off x="5764078" y="411625"/>
            <a:ext cx="5665278" cy="2341325"/>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CC21B6EC-BC91-9E58-06F9-273CD4D0991C}"/>
              </a:ext>
            </a:extLst>
          </p:cNvPr>
          <p:cNvPicPr>
            <a:picLocks noChangeAspect="1"/>
          </p:cNvPicPr>
          <p:nvPr/>
        </p:nvPicPr>
        <p:blipFill>
          <a:blip r:embed="rId3"/>
          <a:stretch>
            <a:fillRect/>
          </a:stretch>
        </p:blipFill>
        <p:spPr>
          <a:xfrm>
            <a:off x="6544752" y="2543515"/>
            <a:ext cx="4884604" cy="1151054"/>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78A56F18-910D-6660-A764-CDBA713CAAB5}"/>
              </a:ext>
            </a:extLst>
          </p:cNvPr>
          <p:cNvPicPr>
            <a:picLocks noChangeAspect="1"/>
          </p:cNvPicPr>
          <p:nvPr/>
        </p:nvPicPr>
        <p:blipFill>
          <a:blip r:embed="rId4"/>
          <a:stretch>
            <a:fillRect/>
          </a:stretch>
        </p:blipFill>
        <p:spPr>
          <a:xfrm>
            <a:off x="6096000" y="4226613"/>
            <a:ext cx="5403689" cy="206322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65061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0F7E6-8D16-09E7-F56D-1D98001665B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44B3552-CDEB-5CEA-3EEA-EAD3FBBC5D98}"/>
              </a:ext>
            </a:extLst>
          </p:cNvPr>
          <p:cNvSpPr/>
          <p:nvPr/>
        </p:nvSpPr>
        <p:spPr>
          <a:xfrm>
            <a:off x="280573" y="452169"/>
            <a:ext cx="5226518" cy="1938992"/>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First notebook</a:t>
            </a:r>
          </a:p>
          <a:p>
            <a:endParaRPr lang="en-US" sz="2000" dirty="0">
              <a:ln w="0"/>
              <a:effectLst>
                <a:outerShdw blurRad="38100" dist="19050" dir="2700000" algn="tl" rotWithShape="0">
                  <a:schemeClr val="dk1">
                    <a:alpha val="40000"/>
                  </a:schemeClr>
                </a:outerShdw>
              </a:effectLst>
            </a:endParaRPr>
          </a:p>
          <a:p>
            <a:r>
              <a:rPr lang="en-US" sz="2000" b="0" cap="none" spc="0" dirty="0">
                <a:ln w="0"/>
                <a:solidFill>
                  <a:schemeClr val="tx1"/>
                </a:solidFill>
                <a:effectLst>
                  <a:outerShdw blurRad="38100" dist="19050" dir="2700000" algn="tl" rotWithShape="0">
                    <a:schemeClr val="dk1">
                      <a:alpha val="40000"/>
                    </a:schemeClr>
                  </a:outerShdw>
                </a:effectLst>
              </a:rPr>
              <a:t>-it invokes the notebook 4_update_watermark to get the maximum timestamp of the bronze layer table and update the watermark table</a:t>
            </a:r>
          </a:p>
          <a:p>
            <a:endParaRPr lang="en-US" sz="2000" b="0" cap="none" spc="0" dirty="0">
              <a:ln w="0"/>
              <a:solidFill>
                <a:schemeClr val="tx1"/>
              </a:solidFill>
              <a:effectLst>
                <a:outerShdw blurRad="38100" dist="19050" dir="2700000" algn="tl" rotWithShape="0">
                  <a:schemeClr val="dk1">
                    <a:alpha val="40000"/>
                  </a:schemeClr>
                </a:outerShdw>
              </a:effectLst>
            </a:endParaRPr>
          </a:p>
        </p:txBody>
      </p:sp>
      <p:pic>
        <p:nvPicPr>
          <p:cNvPr id="4" name="Picture 3">
            <a:extLst>
              <a:ext uri="{FF2B5EF4-FFF2-40B4-BE49-F238E27FC236}">
                <a16:creationId xmlns:a16="http://schemas.microsoft.com/office/drawing/2014/main" id="{0804FB75-C9E3-2DB7-276F-B3D5FDA58525}"/>
              </a:ext>
            </a:extLst>
          </p:cNvPr>
          <p:cNvPicPr>
            <a:picLocks noChangeAspect="1"/>
          </p:cNvPicPr>
          <p:nvPr/>
        </p:nvPicPr>
        <p:blipFill>
          <a:blip r:embed="rId2"/>
          <a:stretch>
            <a:fillRect/>
          </a:stretch>
        </p:blipFill>
        <p:spPr>
          <a:xfrm>
            <a:off x="5638799" y="252144"/>
            <a:ext cx="6165933" cy="2241007"/>
          </a:xfrm>
          <a:prstGeom prst="rect">
            <a:avLst/>
          </a:prstGeom>
          <a:ln>
            <a:noFill/>
          </a:ln>
          <a:effectLst>
            <a:outerShdw blurRad="292100" dist="139700" dir="2700000" algn="tl" rotWithShape="0">
              <a:srgbClr val="333333">
                <a:alpha val="65000"/>
              </a:srgbClr>
            </a:outerShdw>
          </a:effectLst>
        </p:spPr>
      </p:pic>
      <p:sp>
        <p:nvSpPr>
          <p:cNvPr id="5" name="Rectangle 4">
            <a:extLst>
              <a:ext uri="{FF2B5EF4-FFF2-40B4-BE49-F238E27FC236}">
                <a16:creationId xmlns:a16="http://schemas.microsoft.com/office/drawing/2014/main" id="{452A0070-B7D0-FFFA-9F97-9D01AAE83F43}"/>
              </a:ext>
            </a:extLst>
          </p:cNvPr>
          <p:cNvSpPr/>
          <p:nvPr/>
        </p:nvSpPr>
        <p:spPr>
          <a:xfrm>
            <a:off x="137698" y="3429000"/>
            <a:ext cx="5226518" cy="2246769"/>
          </a:xfrm>
          <a:prstGeom prst="rect">
            <a:avLst/>
          </a:prstGeom>
          <a:noFill/>
        </p:spPr>
        <p:txBody>
          <a:bodyPr wrap="square" lIns="91440" tIns="45720" rIns="91440" bIns="45720">
            <a:spAutoFit/>
          </a:bodyPr>
          <a:lstStyle/>
          <a:p>
            <a:r>
              <a:rPr lang="en-US" sz="2000" dirty="0">
                <a:ln w="0"/>
                <a:effectLst>
                  <a:outerShdw blurRad="38100" dist="19050" dir="2700000" algn="tl" rotWithShape="0">
                    <a:schemeClr val="dk1">
                      <a:alpha val="40000"/>
                    </a:schemeClr>
                  </a:outerShdw>
                </a:effectLst>
              </a:rPr>
              <a:t>S</a:t>
            </a:r>
            <a:r>
              <a:rPr lang="en-US" sz="2000" b="0" cap="none" spc="0" dirty="0">
                <a:ln w="0"/>
                <a:solidFill>
                  <a:schemeClr val="tx1"/>
                </a:solidFill>
                <a:effectLst>
                  <a:outerShdw blurRad="38100" dist="19050" dir="2700000" algn="tl" rotWithShape="0">
                    <a:schemeClr val="dk1">
                      <a:alpha val="40000"/>
                    </a:schemeClr>
                  </a:outerShdw>
                </a:effectLst>
              </a:rPr>
              <a:t>econd notebook</a:t>
            </a:r>
          </a:p>
          <a:p>
            <a:endParaRPr lang="en-US" sz="2000" dirty="0">
              <a:ln w="0"/>
              <a:effectLst>
                <a:outerShdw blurRad="38100" dist="19050" dir="2700000" algn="tl" rotWithShape="0">
                  <a:schemeClr val="dk1">
                    <a:alpha val="40000"/>
                  </a:schemeClr>
                </a:outerShdw>
              </a:effectLst>
            </a:endParaRPr>
          </a:p>
          <a:p>
            <a:r>
              <a:rPr lang="en-US" sz="2000" b="0" cap="none" spc="0" dirty="0">
                <a:ln w="0"/>
                <a:solidFill>
                  <a:schemeClr val="tx1"/>
                </a:solidFill>
                <a:effectLst>
                  <a:outerShdw blurRad="38100" dist="19050" dir="2700000" algn="tl" rotWithShape="0">
                    <a:schemeClr val="dk1">
                      <a:alpha val="40000"/>
                    </a:schemeClr>
                  </a:outerShdw>
                </a:effectLst>
              </a:rPr>
              <a:t>-it invokes the notebook </a:t>
            </a:r>
            <a:r>
              <a:rPr lang="en-US" sz="2000" b="0" cap="none" spc="0" dirty="0" err="1">
                <a:ln w="0"/>
                <a:solidFill>
                  <a:schemeClr val="tx1"/>
                </a:solidFill>
                <a:effectLst>
                  <a:outerShdw blurRad="38100" dist="19050" dir="2700000" algn="tl" rotWithShape="0">
                    <a:schemeClr val="dk1">
                      <a:alpha val="40000"/>
                    </a:schemeClr>
                  </a:outerShdw>
                </a:effectLst>
              </a:rPr>
              <a:t>silver_script_incremental_load_upsert</a:t>
            </a:r>
            <a:r>
              <a:rPr lang="en-US" sz="2000" b="0" cap="none" spc="0" dirty="0">
                <a:ln w="0"/>
                <a:solidFill>
                  <a:schemeClr val="tx1"/>
                </a:solidFill>
                <a:effectLst>
                  <a:outerShdw blurRad="38100" dist="19050" dir="2700000" algn="tl" rotWithShape="0">
                    <a:schemeClr val="dk1">
                      <a:alpha val="40000"/>
                    </a:schemeClr>
                  </a:outerShdw>
                </a:effectLst>
              </a:rPr>
              <a:t> which processes the data from the bronze layer and insert them in the silver layer</a:t>
            </a:r>
          </a:p>
          <a:p>
            <a:endParaRPr lang="en-US" sz="2000" b="0" cap="none" spc="0" dirty="0">
              <a:ln w="0"/>
              <a:solidFill>
                <a:schemeClr val="tx1"/>
              </a:solidFill>
              <a:effectLst>
                <a:outerShdw blurRad="38100" dist="19050" dir="2700000" algn="tl" rotWithShape="0">
                  <a:schemeClr val="dk1">
                    <a:alpha val="40000"/>
                  </a:schemeClr>
                </a:outerShdw>
              </a:effectLst>
            </a:endParaRPr>
          </a:p>
        </p:txBody>
      </p:sp>
      <p:pic>
        <p:nvPicPr>
          <p:cNvPr id="9" name="Picture 8">
            <a:extLst>
              <a:ext uri="{FF2B5EF4-FFF2-40B4-BE49-F238E27FC236}">
                <a16:creationId xmlns:a16="http://schemas.microsoft.com/office/drawing/2014/main" id="{5D46C0E2-7A82-FD7A-C3CB-3EF5B36EA94F}"/>
              </a:ext>
            </a:extLst>
          </p:cNvPr>
          <p:cNvPicPr>
            <a:picLocks noChangeAspect="1"/>
          </p:cNvPicPr>
          <p:nvPr/>
        </p:nvPicPr>
        <p:blipFill>
          <a:blip r:embed="rId3"/>
          <a:stretch>
            <a:fillRect/>
          </a:stretch>
        </p:blipFill>
        <p:spPr>
          <a:xfrm>
            <a:off x="5537282" y="3360383"/>
            <a:ext cx="6267450" cy="217910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45681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157</Words>
  <Application>Microsoft Office PowerPoint</Application>
  <PresentationFormat>Widescreen</PresentationFormat>
  <Paragraphs>15</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Eyad Elnagdy</dc:creator>
  <cp:lastModifiedBy>Eyad Elnagdy</cp:lastModifiedBy>
  <cp:revision>4</cp:revision>
  <dcterms:created xsi:type="dcterms:W3CDTF">2026-05-18T12:41:45Z</dcterms:created>
  <dcterms:modified xsi:type="dcterms:W3CDTF">2026-05-18T13:23:09Z</dcterms:modified>
</cp:coreProperties>
</file>