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9" autoAdjust="0"/>
    <p:restoredTop sz="94660"/>
  </p:normalViewPr>
  <p:slideViewPr>
    <p:cSldViewPr snapToGrid="0">
      <p:cViewPr varScale="1">
        <p:scale>
          <a:sx n="102" d="100"/>
          <a:sy n="102" d="100"/>
        </p:scale>
        <p:origin x="90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412DD-9A92-E240-B4B4-0898FA7F95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F36217-06F1-3719-326A-1A07B22BA5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B1DC86-0678-0CA4-AA36-3CBFEA17859D}"/>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2E132DFF-F2C2-34BA-A645-7206CB050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FFADAE-56AC-EBA5-CDA0-8E3DB9546C09}"/>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074107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00A48-5FFD-60CF-C21E-DCA392B2B7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93FE04-BA08-9777-307D-8D2260E088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12DA1-791A-A6B4-133B-D16772503B70}"/>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4A5D8E08-6952-5188-A806-35CA2772C9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95F84-ADE8-AC25-AFDD-2492C34E9587}"/>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769298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3568-3E54-0369-5F3E-67CCE3784E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AC299E-5EE8-00C7-3429-C210E1BD89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A7B9CC-E437-B47F-033F-FE912A056761}"/>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ECA7A60D-2D8F-B1D6-DF27-60E970204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36269C-2902-18F9-8241-E0C58B40FEF8}"/>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95462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2393-8408-83CD-FCF0-D3F00B1B85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CF8A90-FF1A-6E9C-1093-E018622C13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728FEA-0791-994F-BB3A-FBD369FE27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58EA2E-2EB5-5B89-2A0B-F19A94D9489A}"/>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6" name="Footer Placeholder 5">
            <a:extLst>
              <a:ext uri="{FF2B5EF4-FFF2-40B4-BE49-F238E27FC236}">
                <a16:creationId xmlns:a16="http://schemas.microsoft.com/office/drawing/2014/main" id="{4EB8742F-7B1E-7D1C-3CAD-C6612FF2A0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C81658-603C-CF24-901B-3E067DE9EF7D}"/>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4036441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B3E6-4C2E-F537-8986-584E8E9E35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889872-3129-8645-C228-6663F15E4A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471F5C-D015-8C8B-692B-E51D28FF02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214CF0-85ED-56AA-38DC-343FEF3EF3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3DBAEA-A9A1-33C5-C356-FEECF6C886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B35CC4-5ABA-8E9B-366B-D1FFBC7E7856}"/>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8" name="Footer Placeholder 7">
            <a:extLst>
              <a:ext uri="{FF2B5EF4-FFF2-40B4-BE49-F238E27FC236}">
                <a16:creationId xmlns:a16="http://schemas.microsoft.com/office/drawing/2014/main" id="{1D7E5F6E-0656-E868-B50A-BAFCCE364B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AF7F00-9939-6E41-B40B-FE5AACFB997A}"/>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96193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45F0F-D02C-BF0D-E131-B58AF26C85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2396C9-D861-4563-66B6-09AB7D8E4893}"/>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4" name="Footer Placeholder 3">
            <a:extLst>
              <a:ext uri="{FF2B5EF4-FFF2-40B4-BE49-F238E27FC236}">
                <a16:creationId xmlns:a16="http://schemas.microsoft.com/office/drawing/2014/main" id="{859C7BAF-AC33-0B78-FD88-69D706A34C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65EDD3-E27C-4E7C-F7C0-CB6648029B0C}"/>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106605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39747B-60DA-EB51-6D62-8C283BEB1198}"/>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3" name="Footer Placeholder 2">
            <a:extLst>
              <a:ext uri="{FF2B5EF4-FFF2-40B4-BE49-F238E27FC236}">
                <a16:creationId xmlns:a16="http://schemas.microsoft.com/office/drawing/2014/main" id="{12CC2D93-05D2-16BD-C249-219FD1C492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0721D0-43EE-1182-79F9-B3E89159B84C}"/>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2670889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1A597-A429-6A1F-6EA8-A28F3F7957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59085B-BE60-EE5E-2DA2-E28625DEA7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7F8780-3A73-97B1-05F6-717A1440F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765B5-9FFB-0ADD-223E-5CC32467F149}"/>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6" name="Footer Placeholder 5">
            <a:extLst>
              <a:ext uri="{FF2B5EF4-FFF2-40B4-BE49-F238E27FC236}">
                <a16:creationId xmlns:a16="http://schemas.microsoft.com/office/drawing/2014/main" id="{71C214B4-53C3-6299-1997-5BC42D1DD4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4B14A-E2A2-6B5C-CC79-0BB4AC7FD2DF}"/>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2857856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8967-DA37-5B48-C384-16D9FA1DB4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4D3C3F-4F1F-8463-02FC-983899C6E9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DD40E2-4310-7E01-C505-7FE1CD5FF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140780-8046-44C3-2C19-7D46718297AF}"/>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6" name="Footer Placeholder 5">
            <a:extLst>
              <a:ext uri="{FF2B5EF4-FFF2-40B4-BE49-F238E27FC236}">
                <a16:creationId xmlns:a16="http://schemas.microsoft.com/office/drawing/2014/main" id="{8A49D302-43B5-C942-6D76-6F9BB42343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C10C0-290B-54C4-33A5-A23BDF64EE84}"/>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120656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7BB1-6416-2963-3DC5-9955A582DE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FD8966-1BC5-9D11-044C-7AA9F9990A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ED656-B8F3-6938-BF83-D4554ACD56C7}"/>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D507ACF1-24A4-826D-A2D0-E63AD98C88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A7FDB-0E75-CDCF-9BCF-DEFA0D6F1BF7}"/>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991687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3396FD-7940-DC40-144B-18C34067B5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BA76CF-6AC6-7921-B4AC-EA083D70EE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6A464-4F8F-6BD8-76F3-C02F0539F085}"/>
              </a:ext>
            </a:extLst>
          </p:cNvPr>
          <p:cNvSpPr>
            <a:spLocks noGrp="1"/>
          </p:cNvSpPr>
          <p:nvPr>
            <p:ph type="dt" sz="half" idx="10"/>
          </p:nvPr>
        </p:nvSpPr>
        <p:spPr/>
        <p:txBody>
          <a:body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161D3BB8-5D0A-B1ED-A658-88318B06C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78DD80-339D-8A07-697F-140A1011A205}"/>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69237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27999F-5694-F371-657B-DDBEC2CE49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5F3F5B-71FB-9FA1-0352-A297B24D62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EC106-2E0D-2043-B6F8-B12C0C8CD3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ECDF31-714C-4373-9A45-DA9B30534DFA}" type="datetimeFigureOut">
              <a:rPr lang="en-US" smtClean="0"/>
              <a:t>5/18/2026</a:t>
            </a:fld>
            <a:endParaRPr lang="en-US"/>
          </a:p>
        </p:txBody>
      </p:sp>
      <p:sp>
        <p:nvSpPr>
          <p:cNvPr id="5" name="Footer Placeholder 4">
            <a:extLst>
              <a:ext uri="{FF2B5EF4-FFF2-40B4-BE49-F238E27FC236}">
                <a16:creationId xmlns:a16="http://schemas.microsoft.com/office/drawing/2014/main" id="{679CBF1F-F5DD-363D-7617-B3AB5D8EBF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DD23871-37F2-EEA7-5D2E-7133253C42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14171B-6EE0-49B9-97F9-2ADCF318155B}" type="slidenum">
              <a:rPr lang="en-US" smtClean="0"/>
              <a:t>‹#›</a:t>
            </a:fld>
            <a:endParaRPr lang="en-US"/>
          </a:p>
        </p:txBody>
      </p:sp>
    </p:spTree>
    <p:extLst>
      <p:ext uri="{BB962C8B-B14F-4D97-AF65-F5344CB8AC3E}">
        <p14:creationId xmlns:p14="http://schemas.microsoft.com/office/powerpoint/2010/main" val="2534947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DF666C-EB00-9FD6-234A-FCD60F802708}"/>
              </a:ext>
            </a:extLst>
          </p:cNvPr>
          <p:cNvPicPr>
            <a:picLocks noChangeAspect="1"/>
          </p:cNvPicPr>
          <p:nvPr/>
        </p:nvPicPr>
        <p:blipFill>
          <a:blip r:embed="rId2"/>
          <a:srcRect t="26718" b="21533"/>
          <a:stretch>
            <a:fillRect/>
          </a:stretch>
        </p:blipFill>
        <p:spPr>
          <a:xfrm>
            <a:off x="1227953" y="819188"/>
            <a:ext cx="9164329" cy="14341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7A060D1B-5053-9E17-2442-37B082B429B1}"/>
              </a:ext>
            </a:extLst>
          </p:cNvPr>
          <p:cNvPicPr>
            <a:picLocks noChangeAspect="1"/>
          </p:cNvPicPr>
          <p:nvPr/>
        </p:nvPicPr>
        <p:blipFill>
          <a:blip r:embed="rId3"/>
          <a:stretch>
            <a:fillRect/>
          </a:stretch>
        </p:blipFill>
        <p:spPr>
          <a:xfrm>
            <a:off x="6779719" y="2486243"/>
            <a:ext cx="4837647" cy="21184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angle 6">
            <a:extLst>
              <a:ext uri="{FF2B5EF4-FFF2-40B4-BE49-F238E27FC236}">
                <a16:creationId xmlns:a16="http://schemas.microsoft.com/office/drawing/2014/main" id="{20414A8E-95B3-77B4-DC8D-F1FE80AF1809}"/>
              </a:ext>
            </a:extLst>
          </p:cNvPr>
          <p:cNvSpPr/>
          <p:nvPr/>
        </p:nvSpPr>
        <p:spPr>
          <a:xfrm>
            <a:off x="462012" y="2736550"/>
            <a:ext cx="4729213" cy="2554545"/>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Copy activity settings</a:t>
            </a:r>
          </a:p>
          <a:p>
            <a:endParaRPr lang="en-US" sz="2000" dirty="0">
              <a:ln w="0"/>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Source: on premise SQL server table, in the query the current timestamp is to be added as the </a:t>
            </a:r>
            <a:r>
              <a:rPr lang="en-US" sz="2000" b="0" cap="none" spc="0" dirty="0" err="1">
                <a:ln w="0"/>
                <a:solidFill>
                  <a:schemeClr val="tx1"/>
                </a:solidFill>
                <a:effectLst>
                  <a:outerShdw blurRad="38100" dist="19050" dir="2700000" algn="tl" rotWithShape="0">
                    <a:schemeClr val="dk1">
                      <a:alpha val="40000"/>
                    </a:schemeClr>
                  </a:outerShdw>
                </a:effectLst>
              </a:rPr>
              <a:t>insert_date</a:t>
            </a:r>
            <a:endParaRPr lang="en-US" sz="2000" b="0" cap="none" spc="0" dirty="0">
              <a:ln w="0"/>
              <a:solidFill>
                <a:schemeClr val="tx1"/>
              </a:solidFill>
              <a:effectLst>
                <a:outerShdw blurRad="38100" dist="19050" dir="2700000" algn="tl" rotWithShape="0">
                  <a:schemeClr val="dk1">
                    <a:alpha val="40000"/>
                  </a:schemeClr>
                </a:outerShdw>
              </a:effectLst>
            </a:endParaRPr>
          </a:p>
          <a:p>
            <a:endParaRPr lang="en-US" sz="2000" dirty="0">
              <a:ln w="0"/>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Destination: delta table in the lakehouse bronze layer. </a:t>
            </a:r>
            <a:r>
              <a:rPr lang="en-US" sz="2000" dirty="0">
                <a:ln w="0"/>
                <a:effectLst>
                  <a:outerShdw blurRad="38100" dist="19050" dir="2700000" algn="tl" rotWithShape="0">
                    <a:schemeClr val="dk1">
                      <a:alpha val="40000"/>
                    </a:schemeClr>
                  </a:outerShdw>
                </a:effectLst>
              </a:rPr>
              <a:t>Overwrite mode</a:t>
            </a:r>
            <a:endParaRPr lang="en-US" sz="2000" b="0" cap="none" spc="0" dirty="0">
              <a:ln w="0"/>
              <a:solidFill>
                <a:schemeClr val="tx1"/>
              </a:solidFill>
              <a:effectLst>
                <a:outerShdw blurRad="38100" dist="19050" dir="2700000" algn="tl" rotWithShape="0">
                  <a:schemeClr val="dk1">
                    <a:alpha val="40000"/>
                  </a:schemeClr>
                </a:outerShdw>
              </a:effectLst>
            </a:endParaRPr>
          </a:p>
        </p:txBody>
      </p:sp>
      <p:pic>
        <p:nvPicPr>
          <p:cNvPr id="9" name="Picture 8">
            <a:extLst>
              <a:ext uri="{FF2B5EF4-FFF2-40B4-BE49-F238E27FC236}">
                <a16:creationId xmlns:a16="http://schemas.microsoft.com/office/drawing/2014/main" id="{EE99307E-FAD0-8326-3D06-AF8B3446E304}"/>
              </a:ext>
            </a:extLst>
          </p:cNvPr>
          <p:cNvPicPr>
            <a:picLocks noChangeAspect="1"/>
          </p:cNvPicPr>
          <p:nvPr/>
        </p:nvPicPr>
        <p:blipFill>
          <a:blip r:embed="rId4"/>
          <a:stretch>
            <a:fillRect/>
          </a:stretch>
        </p:blipFill>
        <p:spPr>
          <a:xfrm>
            <a:off x="6779719" y="4837540"/>
            <a:ext cx="4729212" cy="169066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Rectangle 9">
            <a:extLst>
              <a:ext uri="{FF2B5EF4-FFF2-40B4-BE49-F238E27FC236}">
                <a16:creationId xmlns:a16="http://schemas.microsoft.com/office/drawing/2014/main" id="{CB1C66F7-2FC5-7EA6-456E-B4B6181D0DF6}"/>
              </a:ext>
            </a:extLst>
          </p:cNvPr>
          <p:cNvSpPr/>
          <p:nvPr/>
        </p:nvSpPr>
        <p:spPr>
          <a:xfrm>
            <a:off x="347181" y="117967"/>
            <a:ext cx="10925872" cy="584775"/>
          </a:xfrm>
          <a:prstGeom prst="rect">
            <a:avLst/>
          </a:prstGeom>
          <a:noFill/>
        </p:spPr>
        <p:txBody>
          <a:bodyPr wrap="squar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The </a:t>
            </a:r>
            <a:r>
              <a:rPr lang="en-US" sz="1600" dirty="0">
                <a:ln w="0"/>
                <a:effectLst>
                  <a:outerShdw blurRad="38100" dist="19050" dir="2700000" algn="tl" rotWithShape="0">
                    <a:schemeClr val="dk1">
                      <a:alpha val="40000"/>
                    </a:schemeClr>
                  </a:outerShdw>
                </a:effectLst>
              </a:rPr>
              <a:t>purpose of the initial load is to load the data in a full mode into the bronze layer and after that process the data using spark notebook and load it into the silver layer. This pipeline needs to be triggered manually as it will run only once</a:t>
            </a:r>
          </a:p>
        </p:txBody>
      </p:sp>
    </p:spTree>
    <p:extLst>
      <p:ext uri="{BB962C8B-B14F-4D97-AF65-F5344CB8AC3E}">
        <p14:creationId xmlns:p14="http://schemas.microsoft.com/office/powerpoint/2010/main" val="1751538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14B6E2-57E5-7FC2-80D3-97237F1CC46B}"/>
              </a:ext>
            </a:extLst>
          </p:cNvPr>
          <p:cNvPicPr>
            <a:picLocks noChangeAspect="1"/>
          </p:cNvPicPr>
          <p:nvPr/>
        </p:nvPicPr>
        <p:blipFill>
          <a:blip r:embed="rId2"/>
          <a:stretch>
            <a:fillRect/>
          </a:stretch>
        </p:blipFill>
        <p:spPr>
          <a:xfrm>
            <a:off x="5601903" y="401269"/>
            <a:ext cx="6218260" cy="23560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ectangle 5">
            <a:extLst>
              <a:ext uri="{FF2B5EF4-FFF2-40B4-BE49-F238E27FC236}">
                <a16:creationId xmlns:a16="http://schemas.microsoft.com/office/drawing/2014/main" id="{E8FCF8CC-5CA6-E652-E2A8-42B88467CF77}"/>
              </a:ext>
            </a:extLst>
          </p:cNvPr>
          <p:cNvSpPr/>
          <p:nvPr/>
        </p:nvSpPr>
        <p:spPr>
          <a:xfrm>
            <a:off x="163629" y="305016"/>
            <a:ext cx="5226518" cy="2554545"/>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First notebook</a:t>
            </a:r>
          </a:p>
          <a:p>
            <a:endParaRPr lang="en-US" sz="2000" dirty="0">
              <a:ln w="0"/>
              <a:effectLst>
                <a:outerShdw blurRad="38100" dist="19050" dir="2700000" algn="tl" rotWithShape="0">
                  <a:schemeClr val="dk1">
                    <a:alpha val="40000"/>
                  </a:schemeClr>
                </a:outerShdw>
              </a:effectLst>
            </a:endParaRPr>
          </a:p>
          <a:p>
            <a:pPr marL="342900" indent="-342900">
              <a:buFontTx/>
              <a:buChar char="-"/>
            </a:pPr>
            <a:r>
              <a:rPr lang="en-US" sz="2000" b="0" cap="none" spc="0" dirty="0">
                <a:ln w="0"/>
                <a:solidFill>
                  <a:schemeClr val="tx1"/>
                </a:solidFill>
                <a:effectLst>
                  <a:outerShdw blurRad="38100" dist="19050" dir="2700000" algn="tl" rotWithShape="0">
                    <a:schemeClr val="dk1">
                      <a:alpha val="40000"/>
                    </a:schemeClr>
                  </a:outerShdw>
                </a:effectLst>
              </a:rPr>
              <a:t>It invokes the notebook 2_initial_watermark which is responsible for the update of the watermark in a separate table</a:t>
            </a:r>
          </a:p>
          <a:p>
            <a:r>
              <a:rPr lang="en-US" sz="2000" dirty="0">
                <a:ln w="0"/>
                <a:effectLst>
                  <a:outerShdw blurRad="38100" dist="19050" dir="2700000" algn="tl" rotWithShape="0">
                    <a:schemeClr val="dk1">
                      <a:alpha val="40000"/>
                    </a:schemeClr>
                  </a:outerShdw>
                </a:effectLst>
              </a:rPr>
              <a:t>(the watermark is the maximum timestamp of the table loaded in the bronze)</a:t>
            </a:r>
            <a:endParaRPr lang="en-US" sz="2000" b="0" cap="none" spc="0" dirty="0">
              <a:ln w="0"/>
              <a:solidFill>
                <a:schemeClr val="tx1"/>
              </a:solidFill>
              <a:effectLst>
                <a:outerShdw blurRad="38100" dist="19050" dir="2700000" algn="tl" rotWithShape="0">
                  <a:schemeClr val="dk1">
                    <a:alpha val="40000"/>
                  </a:schemeClr>
                </a:outerShdw>
              </a:effectLst>
            </a:endParaRPr>
          </a:p>
        </p:txBody>
      </p:sp>
      <p:pic>
        <p:nvPicPr>
          <p:cNvPr id="8" name="Picture 7">
            <a:extLst>
              <a:ext uri="{FF2B5EF4-FFF2-40B4-BE49-F238E27FC236}">
                <a16:creationId xmlns:a16="http://schemas.microsoft.com/office/drawing/2014/main" id="{DE88C28F-7C56-986D-754A-7C6B174CBF57}"/>
              </a:ext>
            </a:extLst>
          </p:cNvPr>
          <p:cNvPicPr>
            <a:picLocks noChangeAspect="1"/>
          </p:cNvPicPr>
          <p:nvPr/>
        </p:nvPicPr>
        <p:blipFill>
          <a:blip r:embed="rId3"/>
          <a:stretch>
            <a:fillRect/>
          </a:stretch>
        </p:blipFill>
        <p:spPr>
          <a:xfrm>
            <a:off x="5601903" y="3536520"/>
            <a:ext cx="6211375" cy="23560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Rectangle 8">
            <a:extLst>
              <a:ext uri="{FF2B5EF4-FFF2-40B4-BE49-F238E27FC236}">
                <a16:creationId xmlns:a16="http://schemas.microsoft.com/office/drawing/2014/main" id="{1FDACE12-EDC0-A7D4-D5B7-667DAFF16C0D}"/>
              </a:ext>
            </a:extLst>
          </p:cNvPr>
          <p:cNvSpPr/>
          <p:nvPr/>
        </p:nvSpPr>
        <p:spPr>
          <a:xfrm>
            <a:off x="163629" y="3745043"/>
            <a:ext cx="5226518" cy="1938992"/>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Second notebook</a:t>
            </a:r>
          </a:p>
          <a:p>
            <a:endParaRPr lang="en-US" sz="2000" dirty="0">
              <a:ln w="0"/>
              <a:effectLst>
                <a:outerShdw blurRad="38100" dist="19050" dir="2700000" algn="tl" rotWithShape="0">
                  <a:schemeClr val="dk1">
                    <a:alpha val="40000"/>
                  </a:schemeClr>
                </a:outerShdw>
              </a:effectLst>
            </a:endParaRPr>
          </a:p>
          <a:p>
            <a:pPr marL="342900" indent="-342900">
              <a:buFontTx/>
              <a:buChar char="-"/>
            </a:pPr>
            <a:r>
              <a:rPr lang="en-US" sz="2000" b="0" cap="none" spc="0" dirty="0">
                <a:ln w="0"/>
                <a:solidFill>
                  <a:schemeClr val="tx1"/>
                </a:solidFill>
                <a:effectLst>
                  <a:outerShdw blurRad="38100" dist="19050" dir="2700000" algn="tl" rotWithShape="0">
                    <a:schemeClr val="dk1">
                      <a:alpha val="40000"/>
                    </a:schemeClr>
                  </a:outerShdw>
                </a:effectLst>
              </a:rPr>
              <a:t>It invokes the notebook silver_script_initial</a:t>
            </a:r>
            <a:r>
              <a:rPr lang="en-US" sz="2000" dirty="0">
                <a:ln w="0"/>
                <a:effectLst>
                  <a:outerShdw blurRad="38100" dist="19050" dir="2700000" algn="tl" rotWithShape="0">
                    <a:schemeClr val="dk1">
                      <a:alpha val="40000"/>
                    </a:schemeClr>
                  </a:outerShdw>
                </a:effectLst>
              </a:rPr>
              <a:t>_load </a:t>
            </a:r>
            <a:r>
              <a:rPr lang="en-US" sz="2000" b="0" cap="none" spc="0" dirty="0">
                <a:ln w="0"/>
                <a:solidFill>
                  <a:schemeClr val="tx1"/>
                </a:solidFill>
                <a:effectLst>
                  <a:outerShdw blurRad="38100" dist="19050" dir="2700000" algn="tl" rotWithShape="0">
                    <a:schemeClr val="dk1">
                      <a:alpha val="40000"/>
                    </a:schemeClr>
                  </a:outerShdw>
                </a:effectLst>
              </a:rPr>
              <a:t>which is responsible for the transformation of the data and load it in the silver layer</a:t>
            </a:r>
          </a:p>
        </p:txBody>
      </p:sp>
    </p:spTree>
    <p:extLst>
      <p:ext uri="{BB962C8B-B14F-4D97-AF65-F5344CB8AC3E}">
        <p14:creationId xmlns:p14="http://schemas.microsoft.com/office/powerpoint/2010/main" val="965061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155</Words>
  <Application>Microsoft Office PowerPoint</Application>
  <PresentationFormat>Widescreen</PresentationFormat>
  <Paragraphs>13</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Eyad Elnagdy</dc:creator>
  <cp:lastModifiedBy>Eyad Elnagdy</cp:lastModifiedBy>
  <cp:revision>2</cp:revision>
  <dcterms:created xsi:type="dcterms:W3CDTF">2026-05-18T12:41:45Z</dcterms:created>
  <dcterms:modified xsi:type="dcterms:W3CDTF">2026-05-18T12:56:33Z</dcterms:modified>
</cp:coreProperties>
</file>