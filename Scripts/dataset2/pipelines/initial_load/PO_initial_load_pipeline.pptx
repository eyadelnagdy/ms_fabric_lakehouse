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9" autoAdjust="0"/>
    <p:restoredTop sz="94660"/>
  </p:normalViewPr>
  <p:slideViewPr>
    <p:cSldViewPr snapToGrid="0">
      <p:cViewPr varScale="1">
        <p:scale>
          <a:sx n="102" d="100"/>
          <a:sy n="102" d="100"/>
        </p:scale>
        <p:origin x="90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412DD-9A92-E240-B4B4-0898FA7F95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1F36217-06F1-3719-326A-1A07B22BA5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BB1DC86-0678-0CA4-AA36-3CBFEA17859D}"/>
              </a:ext>
            </a:extLst>
          </p:cNvPr>
          <p:cNvSpPr>
            <a:spLocks noGrp="1"/>
          </p:cNvSpPr>
          <p:nvPr>
            <p:ph type="dt" sz="half" idx="10"/>
          </p:nvPr>
        </p:nvSpPr>
        <p:spPr/>
        <p:txBody>
          <a:bodyPr/>
          <a:lstStyle/>
          <a:p>
            <a:fld id="{B7ECDF31-714C-4373-9A45-DA9B30534DFA}" type="datetimeFigureOut">
              <a:rPr lang="en-US" smtClean="0"/>
              <a:t>5/19/2026</a:t>
            </a:fld>
            <a:endParaRPr lang="en-US"/>
          </a:p>
        </p:txBody>
      </p:sp>
      <p:sp>
        <p:nvSpPr>
          <p:cNvPr id="5" name="Footer Placeholder 4">
            <a:extLst>
              <a:ext uri="{FF2B5EF4-FFF2-40B4-BE49-F238E27FC236}">
                <a16:creationId xmlns:a16="http://schemas.microsoft.com/office/drawing/2014/main" id="{2E132DFF-F2C2-34BA-A645-7206CB0500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FFADAE-56AC-EBA5-CDA0-8E3DB9546C09}"/>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3074107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00A48-5FFD-60CF-C21E-DCA392B2B7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93FE04-BA08-9777-307D-8D2260E088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812DA1-791A-A6B4-133B-D16772503B70}"/>
              </a:ext>
            </a:extLst>
          </p:cNvPr>
          <p:cNvSpPr>
            <a:spLocks noGrp="1"/>
          </p:cNvSpPr>
          <p:nvPr>
            <p:ph type="dt" sz="half" idx="10"/>
          </p:nvPr>
        </p:nvSpPr>
        <p:spPr/>
        <p:txBody>
          <a:bodyPr/>
          <a:lstStyle/>
          <a:p>
            <a:fld id="{B7ECDF31-714C-4373-9A45-DA9B30534DFA}" type="datetimeFigureOut">
              <a:rPr lang="en-US" smtClean="0"/>
              <a:t>5/19/2026</a:t>
            </a:fld>
            <a:endParaRPr lang="en-US"/>
          </a:p>
        </p:txBody>
      </p:sp>
      <p:sp>
        <p:nvSpPr>
          <p:cNvPr id="5" name="Footer Placeholder 4">
            <a:extLst>
              <a:ext uri="{FF2B5EF4-FFF2-40B4-BE49-F238E27FC236}">
                <a16:creationId xmlns:a16="http://schemas.microsoft.com/office/drawing/2014/main" id="{4A5D8E08-6952-5188-A806-35CA2772C9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395F84-ADE8-AC25-AFDD-2492C34E9587}"/>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769298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B3568-3E54-0369-5F3E-67CCE3784E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CAC299E-5EE8-00C7-3429-C210E1BD89E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A7B9CC-E437-B47F-033F-FE912A056761}"/>
              </a:ext>
            </a:extLst>
          </p:cNvPr>
          <p:cNvSpPr>
            <a:spLocks noGrp="1"/>
          </p:cNvSpPr>
          <p:nvPr>
            <p:ph type="dt" sz="half" idx="10"/>
          </p:nvPr>
        </p:nvSpPr>
        <p:spPr/>
        <p:txBody>
          <a:bodyPr/>
          <a:lstStyle/>
          <a:p>
            <a:fld id="{B7ECDF31-714C-4373-9A45-DA9B30534DFA}" type="datetimeFigureOut">
              <a:rPr lang="en-US" smtClean="0"/>
              <a:t>5/19/2026</a:t>
            </a:fld>
            <a:endParaRPr lang="en-US"/>
          </a:p>
        </p:txBody>
      </p:sp>
      <p:sp>
        <p:nvSpPr>
          <p:cNvPr id="5" name="Footer Placeholder 4">
            <a:extLst>
              <a:ext uri="{FF2B5EF4-FFF2-40B4-BE49-F238E27FC236}">
                <a16:creationId xmlns:a16="http://schemas.microsoft.com/office/drawing/2014/main" id="{ECA7A60D-2D8F-B1D6-DF27-60E970204A9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36269C-2902-18F9-8241-E0C58B40FEF8}"/>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39546286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A2393-8408-83CD-FCF0-D3F00B1B857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CF8A90-FF1A-6E9C-1093-E018622C13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4728FEA-0791-994F-BB3A-FBD369FE27B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A58EA2E-2EB5-5B89-2A0B-F19A94D9489A}"/>
              </a:ext>
            </a:extLst>
          </p:cNvPr>
          <p:cNvSpPr>
            <a:spLocks noGrp="1"/>
          </p:cNvSpPr>
          <p:nvPr>
            <p:ph type="dt" sz="half" idx="10"/>
          </p:nvPr>
        </p:nvSpPr>
        <p:spPr/>
        <p:txBody>
          <a:bodyPr/>
          <a:lstStyle/>
          <a:p>
            <a:fld id="{B7ECDF31-714C-4373-9A45-DA9B30534DFA}" type="datetimeFigureOut">
              <a:rPr lang="en-US" smtClean="0"/>
              <a:t>5/19/2026</a:t>
            </a:fld>
            <a:endParaRPr lang="en-US"/>
          </a:p>
        </p:txBody>
      </p:sp>
      <p:sp>
        <p:nvSpPr>
          <p:cNvPr id="6" name="Footer Placeholder 5">
            <a:extLst>
              <a:ext uri="{FF2B5EF4-FFF2-40B4-BE49-F238E27FC236}">
                <a16:creationId xmlns:a16="http://schemas.microsoft.com/office/drawing/2014/main" id="{4EB8742F-7B1E-7D1C-3CAD-C6612FF2A03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C81658-603C-CF24-901B-3E067DE9EF7D}"/>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4036441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3B3E6-4C2E-F537-8986-584E8E9E35B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889872-3129-8645-C228-6663F15E4A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471F5C-D015-8C8B-692B-E51D28FF02D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214CF0-85ED-56AA-38DC-343FEF3EF3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D3DBAEA-A9A1-33C5-C356-FEECF6C8862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7B35CC4-5ABA-8E9B-366B-D1FFBC7E7856}"/>
              </a:ext>
            </a:extLst>
          </p:cNvPr>
          <p:cNvSpPr>
            <a:spLocks noGrp="1"/>
          </p:cNvSpPr>
          <p:nvPr>
            <p:ph type="dt" sz="half" idx="10"/>
          </p:nvPr>
        </p:nvSpPr>
        <p:spPr/>
        <p:txBody>
          <a:bodyPr/>
          <a:lstStyle/>
          <a:p>
            <a:fld id="{B7ECDF31-714C-4373-9A45-DA9B30534DFA}" type="datetimeFigureOut">
              <a:rPr lang="en-US" smtClean="0"/>
              <a:t>5/19/2026</a:t>
            </a:fld>
            <a:endParaRPr lang="en-US"/>
          </a:p>
        </p:txBody>
      </p:sp>
      <p:sp>
        <p:nvSpPr>
          <p:cNvPr id="8" name="Footer Placeholder 7">
            <a:extLst>
              <a:ext uri="{FF2B5EF4-FFF2-40B4-BE49-F238E27FC236}">
                <a16:creationId xmlns:a16="http://schemas.microsoft.com/office/drawing/2014/main" id="{1D7E5F6E-0656-E868-B50A-BAFCCE364B1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EAF7F00-9939-6E41-B40B-FE5AACFB997A}"/>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96193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45F0F-D02C-BF0D-E131-B58AF26C85B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2396C9-D861-4563-66B6-09AB7D8E4893}"/>
              </a:ext>
            </a:extLst>
          </p:cNvPr>
          <p:cNvSpPr>
            <a:spLocks noGrp="1"/>
          </p:cNvSpPr>
          <p:nvPr>
            <p:ph type="dt" sz="half" idx="10"/>
          </p:nvPr>
        </p:nvSpPr>
        <p:spPr/>
        <p:txBody>
          <a:bodyPr/>
          <a:lstStyle/>
          <a:p>
            <a:fld id="{B7ECDF31-714C-4373-9A45-DA9B30534DFA}" type="datetimeFigureOut">
              <a:rPr lang="en-US" smtClean="0"/>
              <a:t>5/19/2026</a:t>
            </a:fld>
            <a:endParaRPr lang="en-US"/>
          </a:p>
        </p:txBody>
      </p:sp>
      <p:sp>
        <p:nvSpPr>
          <p:cNvPr id="4" name="Footer Placeholder 3">
            <a:extLst>
              <a:ext uri="{FF2B5EF4-FFF2-40B4-BE49-F238E27FC236}">
                <a16:creationId xmlns:a16="http://schemas.microsoft.com/office/drawing/2014/main" id="{859C7BAF-AC33-0B78-FD88-69D706A34C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B65EDD3-E27C-4E7C-F7C0-CB6648029B0C}"/>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1066057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39747B-60DA-EB51-6D62-8C283BEB1198}"/>
              </a:ext>
            </a:extLst>
          </p:cNvPr>
          <p:cNvSpPr>
            <a:spLocks noGrp="1"/>
          </p:cNvSpPr>
          <p:nvPr>
            <p:ph type="dt" sz="half" idx="10"/>
          </p:nvPr>
        </p:nvSpPr>
        <p:spPr/>
        <p:txBody>
          <a:bodyPr/>
          <a:lstStyle/>
          <a:p>
            <a:fld id="{B7ECDF31-714C-4373-9A45-DA9B30534DFA}" type="datetimeFigureOut">
              <a:rPr lang="en-US" smtClean="0"/>
              <a:t>5/19/2026</a:t>
            </a:fld>
            <a:endParaRPr lang="en-US"/>
          </a:p>
        </p:txBody>
      </p:sp>
      <p:sp>
        <p:nvSpPr>
          <p:cNvPr id="3" name="Footer Placeholder 2">
            <a:extLst>
              <a:ext uri="{FF2B5EF4-FFF2-40B4-BE49-F238E27FC236}">
                <a16:creationId xmlns:a16="http://schemas.microsoft.com/office/drawing/2014/main" id="{12CC2D93-05D2-16BD-C249-219FD1C492D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A0721D0-43EE-1182-79F9-B3E89159B84C}"/>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2670889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1A597-A429-6A1F-6EA8-A28F3F7957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359085B-BE60-EE5E-2DA2-E28625DEA7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7F8780-3A73-97B1-05F6-717A1440F2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B765B5-9FFB-0ADD-223E-5CC32467F149}"/>
              </a:ext>
            </a:extLst>
          </p:cNvPr>
          <p:cNvSpPr>
            <a:spLocks noGrp="1"/>
          </p:cNvSpPr>
          <p:nvPr>
            <p:ph type="dt" sz="half" idx="10"/>
          </p:nvPr>
        </p:nvSpPr>
        <p:spPr/>
        <p:txBody>
          <a:bodyPr/>
          <a:lstStyle/>
          <a:p>
            <a:fld id="{B7ECDF31-714C-4373-9A45-DA9B30534DFA}" type="datetimeFigureOut">
              <a:rPr lang="en-US" smtClean="0"/>
              <a:t>5/19/2026</a:t>
            </a:fld>
            <a:endParaRPr lang="en-US"/>
          </a:p>
        </p:txBody>
      </p:sp>
      <p:sp>
        <p:nvSpPr>
          <p:cNvPr id="6" name="Footer Placeholder 5">
            <a:extLst>
              <a:ext uri="{FF2B5EF4-FFF2-40B4-BE49-F238E27FC236}">
                <a16:creationId xmlns:a16="http://schemas.microsoft.com/office/drawing/2014/main" id="{71C214B4-53C3-6299-1997-5BC42D1DD45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44B14A-E2A2-6B5C-CC79-0BB4AC7FD2DF}"/>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28578569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E08967-DA37-5B48-C384-16D9FA1DB4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B4D3C3F-4F1F-8463-02FC-983899C6E93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3DD40E2-4310-7E01-C505-7FE1CD5FFF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140780-8046-44C3-2C19-7D46718297AF}"/>
              </a:ext>
            </a:extLst>
          </p:cNvPr>
          <p:cNvSpPr>
            <a:spLocks noGrp="1"/>
          </p:cNvSpPr>
          <p:nvPr>
            <p:ph type="dt" sz="half" idx="10"/>
          </p:nvPr>
        </p:nvSpPr>
        <p:spPr/>
        <p:txBody>
          <a:bodyPr/>
          <a:lstStyle/>
          <a:p>
            <a:fld id="{B7ECDF31-714C-4373-9A45-DA9B30534DFA}" type="datetimeFigureOut">
              <a:rPr lang="en-US" smtClean="0"/>
              <a:t>5/19/2026</a:t>
            </a:fld>
            <a:endParaRPr lang="en-US"/>
          </a:p>
        </p:txBody>
      </p:sp>
      <p:sp>
        <p:nvSpPr>
          <p:cNvPr id="6" name="Footer Placeholder 5">
            <a:extLst>
              <a:ext uri="{FF2B5EF4-FFF2-40B4-BE49-F238E27FC236}">
                <a16:creationId xmlns:a16="http://schemas.microsoft.com/office/drawing/2014/main" id="{8A49D302-43B5-C942-6D76-6F9BB42343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9C10C0-290B-54C4-33A5-A23BDF64EE84}"/>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3120656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17BB1-6416-2963-3DC5-9955A582DE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CFD8966-1BC5-9D11-044C-7AA9F9990A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8ED656-B8F3-6938-BF83-D4554ACD56C7}"/>
              </a:ext>
            </a:extLst>
          </p:cNvPr>
          <p:cNvSpPr>
            <a:spLocks noGrp="1"/>
          </p:cNvSpPr>
          <p:nvPr>
            <p:ph type="dt" sz="half" idx="10"/>
          </p:nvPr>
        </p:nvSpPr>
        <p:spPr/>
        <p:txBody>
          <a:bodyPr/>
          <a:lstStyle/>
          <a:p>
            <a:fld id="{B7ECDF31-714C-4373-9A45-DA9B30534DFA}" type="datetimeFigureOut">
              <a:rPr lang="en-US" smtClean="0"/>
              <a:t>5/19/2026</a:t>
            </a:fld>
            <a:endParaRPr lang="en-US"/>
          </a:p>
        </p:txBody>
      </p:sp>
      <p:sp>
        <p:nvSpPr>
          <p:cNvPr id="5" name="Footer Placeholder 4">
            <a:extLst>
              <a:ext uri="{FF2B5EF4-FFF2-40B4-BE49-F238E27FC236}">
                <a16:creationId xmlns:a16="http://schemas.microsoft.com/office/drawing/2014/main" id="{D507ACF1-24A4-826D-A2D0-E63AD98C88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5A7FDB-0E75-CDCF-9BCF-DEFA0D6F1BF7}"/>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39916871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C3396FD-7940-DC40-144B-18C34067B56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9BA76CF-6AC6-7921-B4AC-EA083D70EE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46A464-4F8F-6BD8-76F3-C02F0539F085}"/>
              </a:ext>
            </a:extLst>
          </p:cNvPr>
          <p:cNvSpPr>
            <a:spLocks noGrp="1"/>
          </p:cNvSpPr>
          <p:nvPr>
            <p:ph type="dt" sz="half" idx="10"/>
          </p:nvPr>
        </p:nvSpPr>
        <p:spPr/>
        <p:txBody>
          <a:bodyPr/>
          <a:lstStyle/>
          <a:p>
            <a:fld id="{B7ECDF31-714C-4373-9A45-DA9B30534DFA}" type="datetimeFigureOut">
              <a:rPr lang="en-US" smtClean="0"/>
              <a:t>5/19/2026</a:t>
            </a:fld>
            <a:endParaRPr lang="en-US"/>
          </a:p>
        </p:txBody>
      </p:sp>
      <p:sp>
        <p:nvSpPr>
          <p:cNvPr id="5" name="Footer Placeholder 4">
            <a:extLst>
              <a:ext uri="{FF2B5EF4-FFF2-40B4-BE49-F238E27FC236}">
                <a16:creationId xmlns:a16="http://schemas.microsoft.com/office/drawing/2014/main" id="{161D3BB8-5D0A-B1ED-A658-88318B06C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78DD80-339D-8A07-697F-140A1011A205}"/>
              </a:ext>
            </a:extLst>
          </p:cNvPr>
          <p:cNvSpPr>
            <a:spLocks noGrp="1"/>
          </p:cNvSpPr>
          <p:nvPr>
            <p:ph type="sldNum" sz="quarter" idx="12"/>
          </p:nvPr>
        </p:nvSpPr>
        <p:spPr/>
        <p:txBody>
          <a:bodyPr/>
          <a:lstStyle/>
          <a:p>
            <a:fld id="{3214171B-6EE0-49B9-97F9-2ADCF318155B}" type="slidenum">
              <a:rPr lang="en-US" smtClean="0"/>
              <a:t>‹#›</a:t>
            </a:fld>
            <a:endParaRPr lang="en-US"/>
          </a:p>
        </p:txBody>
      </p:sp>
    </p:spTree>
    <p:extLst>
      <p:ext uri="{BB962C8B-B14F-4D97-AF65-F5344CB8AC3E}">
        <p14:creationId xmlns:p14="http://schemas.microsoft.com/office/powerpoint/2010/main" val="3692378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27999F-5694-F371-657B-DDBEC2CE49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5F3F5B-71FB-9FA1-0352-A297B24D62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0EC106-2E0D-2043-B6F8-B12C0C8CD3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ECDF31-714C-4373-9A45-DA9B30534DFA}" type="datetimeFigureOut">
              <a:rPr lang="en-US" smtClean="0"/>
              <a:t>5/19/2026</a:t>
            </a:fld>
            <a:endParaRPr lang="en-US"/>
          </a:p>
        </p:txBody>
      </p:sp>
      <p:sp>
        <p:nvSpPr>
          <p:cNvPr id="5" name="Footer Placeholder 4">
            <a:extLst>
              <a:ext uri="{FF2B5EF4-FFF2-40B4-BE49-F238E27FC236}">
                <a16:creationId xmlns:a16="http://schemas.microsoft.com/office/drawing/2014/main" id="{679CBF1F-F5DD-363D-7617-B3AB5D8EBF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DD23871-37F2-EEA7-5D2E-7133253C42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14171B-6EE0-49B9-97F9-2ADCF318155B}" type="slidenum">
              <a:rPr lang="en-US" smtClean="0"/>
              <a:t>‹#›</a:t>
            </a:fld>
            <a:endParaRPr lang="en-US"/>
          </a:p>
        </p:txBody>
      </p:sp>
    </p:spTree>
    <p:extLst>
      <p:ext uri="{BB962C8B-B14F-4D97-AF65-F5344CB8AC3E}">
        <p14:creationId xmlns:p14="http://schemas.microsoft.com/office/powerpoint/2010/main" val="25349478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485EC99-8771-F993-4A30-6F1B120CD3D8}"/>
              </a:ext>
            </a:extLst>
          </p:cNvPr>
          <p:cNvSpPr/>
          <p:nvPr/>
        </p:nvSpPr>
        <p:spPr>
          <a:xfrm>
            <a:off x="548222" y="2844225"/>
            <a:ext cx="10925872" cy="584775"/>
          </a:xfrm>
          <a:prstGeom prst="rect">
            <a:avLst/>
          </a:prstGeom>
          <a:noFill/>
        </p:spPr>
        <p:txBody>
          <a:bodyPr wrap="squar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This table has several operations made on it like (insert, update, and delete). The SCD type 2 is applied to keep a full history of each row. </a:t>
            </a:r>
            <a:r>
              <a:rPr lang="en-US" sz="1600" dirty="0">
                <a:ln w="0"/>
                <a:effectLst>
                  <a:outerShdw blurRad="38100" dist="19050" dir="2700000" algn="tl" rotWithShape="0">
                    <a:schemeClr val="dk1">
                      <a:alpha val="40000"/>
                    </a:schemeClr>
                  </a:outerShdw>
                </a:effectLst>
              </a:rPr>
              <a:t>the valid rows are those that will have valid to column as Null</a:t>
            </a:r>
          </a:p>
        </p:txBody>
      </p:sp>
    </p:spTree>
    <p:extLst>
      <p:ext uri="{BB962C8B-B14F-4D97-AF65-F5344CB8AC3E}">
        <p14:creationId xmlns:p14="http://schemas.microsoft.com/office/powerpoint/2010/main" val="97915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0414A8E-95B3-77B4-DC8D-F1FE80AF1809}"/>
              </a:ext>
            </a:extLst>
          </p:cNvPr>
          <p:cNvSpPr/>
          <p:nvPr/>
        </p:nvSpPr>
        <p:spPr>
          <a:xfrm>
            <a:off x="462012" y="2736550"/>
            <a:ext cx="4729213" cy="2554545"/>
          </a:xfrm>
          <a:prstGeom prst="rect">
            <a:avLst/>
          </a:prstGeom>
          <a:noFill/>
        </p:spPr>
        <p:txBody>
          <a:bodyPr wrap="square" lIns="91440" tIns="45720" rIns="91440" bIns="45720">
            <a:spAutoFit/>
          </a:bodyPr>
          <a:lstStyle/>
          <a:p>
            <a:r>
              <a:rPr lang="en-US" sz="2000" b="0" cap="none" spc="0" dirty="0">
                <a:ln w="0"/>
                <a:solidFill>
                  <a:schemeClr val="tx1"/>
                </a:solidFill>
                <a:effectLst>
                  <a:outerShdw blurRad="38100" dist="19050" dir="2700000" algn="tl" rotWithShape="0">
                    <a:schemeClr val="dk1">
                      <a:alpha val="40000"/>
                    </a:schemeClr>
                  </a:outerShdw>
                </a:effectLst>
              </a:rPr>
              <a:t>Copy activity settings</a:t>
            </a:r>
          </a:p>
          <a:p>
            <a:endParaRPr lang="en-US" sz="2000" dirty="0">
              <a:ln w="0"/>
              <a:effectLst>
                <a:outerShdw blurRad="38100" dist="19050" dir="2700000" algn="tl" rotWithShape="0">
                  <a:schemeClr val="dk1">
                    <a:alpha val="40000"/>
                  </a:schemeClr>
                </a:outerShdw>
              </a:effectLst>
            </a:endParaRPr>
          </a:p>
          <a:p>
            <a:r>
              <a:rPr lang="en-US" sz="2000" b="0" cap="none" spc="0" dirty="0">
                <a:ln w="0"/>
                <a:solidFill>
                  <a:schemeClr val="tx1"/>
                </a:solidFill>
                <a:effectLst>
                  <a:outerShdw blurRad="38100" dist="19050" dir="2700000" algn="tl" rotWithShape="0">
                    <a:schemeClr val="dk1">
                      <a:alpha val="40000"/>
                    </a:schemeClr>
                  </a:outerShdw>
                </a:effectLst>
              </a:rPr>
              <a:t>Source: on premise SQL server table</a:t>
            </a:r>
            <a:r>
              <a:rPr lang="en-US" sz="2000" dirty="0">
                <a:ln w="0"/>
                <a:effectLst>
                  <a:outerShdw blurRad="38100" dist="19050" dir="2700000" algn="tl" rotWithShape="0">
                    <a:schemeClr val="dk1">
                      <a:alpha val="40000"/>
                    </a:schemeClr>
                  </a:outerShdw>
                </a:effectLst>
              </a:rPr>
              <a:t>. The full table is read without any data enrichment (snapshot)</a:t>
            </a:r>
          </a:p>
          <a:p>
            <a:endParaRPr lang="en-US" sz="2000" dirty="0">
              <a:ln w="0"/>
              <a:effectLst>
                <a:outerShdw blurRad="38100" dist="19050" dir="2700000" algn="tl" rotWithShape="0">
                  <a:schemeClr val="dk1">
                    <a:alpha val="40000"/>
                  </a:schemeClr>
                </a:outerShdw>
              </a:effectLst>
            </a:endParaRPr>
          </a:p>
          <a:p>
            <a:r>
              <a:rPr lang="en-US" sz="2000" b="0" cap="none" spc="0" dirty="0">
                <a:ln w="0"/>
                <a:solidFill>
                  <a:schemeClr val="tx1"/>
                </a:solidFill>
                <a:effectLst>
                  <a:outerShdw blurRad="38100" dist="19050" dir="2700000" algn="tl" rotWithShape="0">
                    <a:schemeClr val="dk1">
                      <a:alpha val="40000"/>
                    </a:schemeClr>
                  </a:outerShdw>
                </a:effectLst>
              </a:rPr>
              <a:t>Destination: delta table in the </a:t>
            </a:r>
            <a:r>
              <a:rPr lang="en-US" sz="2000" b="0" cap="none" spc="0" dirty="0" err="1">
                <a:ln w="0"/>
                <a:solidFill>
                  <a:schemeClr val="tx1"/>
                </a:solidFill>
                <a:effectLst>
                  <a:outerShdw blurRad="38100" dist="19050" dir="2700000" algn="tl" rotWithShape="0">
                    <a:schemeClr val="dk1">
                      <a:alpha val="40000"/>
                    </a:schemeClr>
                  </a:outerShdw>
                </a:effectLst>
              </a:rPr>
              <a:t>lakehouse</a:t>
            </a:r>
            <a:r>
              <a:rPr lang="en-US" sz="2000" b="0" cap="none" spc="0" dirty="0">
                <a:ln w="0"/>
                <a:solidFill>
                  <a:schemeClr val="tx1"/>
                </a:solidFill>
                <a:effectLst>
                  <a:outerShdw blurRad="38100" dist="19050" dir="2700000" algn="tl" rotWithShape="0">
                    <a:schemeClr val="dk1">
                      <a:alpha val="40000"/>
                    </a:schemeClr>
                  </a:outerShdw>
                </a:effectLst>
              </a:rPr>
              <a:t> staging layer. </a:t>
            </a:r>
            <a:r>
              <a:rPr lang="en-US" sz="2000" dirty="0">
                <a:ln w="0"/>
                <a:effectLst>
                  <a:outerShdw blurRad="38100" dist="19050" dir="2700000" algn="tl" rotWithShape="0">
                    <a:schemeClr val="dk1">
                      <a:alpha val="40000"/>
                    </a:schemeClr>
                  </a:outerShdw>
                </a:effectLst>
              </a:rPr>
              <a:t>Overwrite mode</a:t>
            </a:r>
            <a:endParaRPr lang="en-US" sz="2000" b="0" cap="none" spc="0" dirty="0">
              <a:ln w="0"/>
              <a:solidFill>
                <a:schemeClr val="tx1"/>
              </a:solidFill>
              <a:effectLst>
                <a:outerShdw blurRad="38100" dist="19050" dir="2700000" algn="tl" rotWithShape="0">
                  <a:schemeClr val="dk1">
                    <a:alpha val="40000"/>
                  </a:schemeClr>
                </a:outerShdw>
              </a:effectLst>
            </a:endParaRPr>
          </a:p>
        </p:txBody>
      </p:sp>
      <p:sp>
        <p:nvSpPr>
          <p:cNvPr id="10" name="Rectangle 9">
            <a:extLst>
              <a:ext uri="{FF2B5EF4-FFF2-40B4-BE49-F238E27FC236}">
                <a16:creationId xmlns:a16="http://schemas.microsoft.com/office/drawing/2014/main" id="{CB1C66F7-2FC5-7EA6-456E-B4B6181D0DF6}"/>
              </a:ext>
            </a:extLst>
          </p:cNvPr>
          <p:cNvSpPr/>
          <p:nvPr/>
        </p:nvSpPr>
        <p:spPr>
          <a:xfrm>
            <a:off x="375462" y="0"/>
            <a:ext cx="10925872" cy="830997"/>
          </a:xfrm>
          <a:prstGeom prst="rect">
            <a:avLst/>
          </a:prstGeom>
          <a:noFill/>
        </p:spPr>
        <p:txBody>
          <a:bodyPr wrap="square" lIns="91440" tIns="45720" rIns="91440" bIns="45720">
            <a:spAutoFit/>
          </a:bodyPr>
          <a:lstStyle/>
          <a:p>
            <a:pPr algn="ctr"/>
            <a:r>
              <a:rPr lang="en-US" sz="1600" b="0" cap="none" spc="0" dirty="0">
                <a:ln w="0"/>
                <a:solidFill>
                  <a:schemeClr val="tx1"/>
                </a:solidFill>
                <a:effectLst>
                  <a:outerShdw blurRad="38100" dist="19050" dir="2700000" algn="tl" rotWithShape="0">
                    <a:schemeClr val="dk1">
                      <a:alpha val="40000"/>
                    </a:schemeClr>
                  </a:outerShdw>
                </a:effectLst>
              </a:rPr>
              <a:t>The </a:t>
            </a:r>
            <a:r>
              <a:rPr lang="en-US" sz="1600" dirty="0">
                <a:ln w="0"/>
                <a:effectLst>
                  <a:outerShdw blurRad="38100" dist="19050" dir="2700000" algn="tl" rotWithShape="0">
                    <a:schemeClr val="dk1">
                      <a:alpha val="40000"/>
                    </a:schemeClr>
                  </a:outerShdw>
                </a:effectLst>
              </a:rPr>
              <a:t>purpose of the initial load is to load the data in a full mode into the staging layer first in full mode (taking a snapshot of the source data) then to bronze layer and after that process the data using spark notebook and load it into the silver layer. This pipeline needs to be triggered manually as it will run only once</a:t>
            </a:r>
          </a:p>
        </p:txBody>
      </p:sp>
      <p:pic>
        <p:nvPicPr>
          <p:cNvPr id="8" name="Picture 7">
            <a:extLst>
              <a:ext uri="{FF2B5EF4-FFF2-40B4-BE49-F238E27FC236}">
                <a16:creationId xmlns:a16="http://schemas.microsoft.com/office/drawing/2014/main" id="{E4564E34-ED3B-FD1D-371C-F9DCF60ED61A}"/>
              </a:ext>
            </a:extLst>
          </p:cNvPr>
          <p:cNvPicPr>
            <a:picLocks noChangeAspect="1"/>
          </p:cNvPicPr>
          <p:nvPr/>
        </p:nvPicPr>
        <p:blipFill>
          <a:blip r:embed="rId2"/>
          <a:stretch>
            <a:fillRect/>
          </a:stretch>
        </p:blipFill>
        <p:spPr>
          <a:xfrm>
            <a:off x="6686074" y="2418853"/>
            <a:ext cx="4615260" cy="2082993"/>
          </a:xfrm>
          <a:prstGeom prst="rect">
            <a:avLst/>
          </a:prstGeom>
          <a:ln>
            <a:noFill/>
          </a:ln>
          <a:effectLst>
            <a:outerShdw blurRad="292100" dist="139700" dir="2700000" algn="tl" rotWithShape="0">
              <a:srgbClr val="333333">
                <a:alpha val="65000"/>
              </a:srgbClr>
            </a:outerShdw>
          </a:effectLst>
        </p:spPr>
      </p:pic>
      <p:pic>
        <p:nvPicPr>
          <p:cNvPr id="12" name="Picture 11">
            <a:extLst>
              <a:ext uri="{FF2B5EF4-FFF2-40B4-BE49-F238E27FC236}">
                <a16:creationId xmlns:a16="http://schemas.microsoft.com/office/drawing/2014/main" id="{4F80A8A2-0FEC-333A-23C9-514C4622808B}"/>
              </a:ext>
            </a:extLst>
          </p:cNvPr>
          <p:cNvPicPr>
            <a:picLocks noChangeAspect="1"/>
          </p:cNvPicPr>
          <p:nvPr/>
        </p:nvPicPr>
        <p:blipFill>
          <a:blip r:embed="rId3"/>
          <a:stretch>
            <a:fillRect/>
          </a:stretch>
        </p:blipFill>
        <p:spPr>
          <a:xfrm>
            <a:off x="6673024" y="4684030"/>
            <a:ext cx="4628310" cy="1867283"/>
          </a:xfrm>
          <a:prstGeom prst="rect">
            <a:avLst/>
          </a:prstGeom>
          <a:ln>
            <a:noFill/>
          </a:ln>
          <a:effectLst>
            <a:outerShdw blurRad="292100" dist="139700" dir="2700000" algn="tl" rotWithShape="0">
              <a:srgbClr val="333333">
                <a:alpha val="65000"/>
              </a:srgbClr>
            </a:outerShdw>
          </a:effectLst>
        </p:spPr>
      </p:pic>
      <p:pic>
        <p:nvPicPr>
          <p:cNvPr id="14" name="Picture 13">
            <a:extLst>
              <a:ext uri="{FF2B5EF4-FFF2-40B4-BE49-F238E27FC236}">
                <a16:creationId xmlns:a16="http://schemas.microsoft.com/office/drawing/2014/main" id="{14B06AC1-80E0-D111-D1FE-52B6D8161CBC}"/>
              </a:ext>
            </a:extLst>
          </p:cNvPr>
          <p:cNvPicPr>
            <a:picLocks noChangeAspect="1"/>
          </p:cNvPicPr>
          <p:nvPr/>
        </p:nvPicPr>
        <p:blipFill>
          <a:blip r:embed="rId4"/>
          <a:srcRect t="13039" b="21907"/>
          <a:stretch>
            <a:fillRect/>
          </a:stretch>
        </p:blipFill>
        <p:spPr>
          <a:xfrm>
            <a:off x="1903720" y="932504"/>
            <a:ext cx="8011084" cy="130416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51538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8FCF8CC-5CA6-E652-E2A8-42B88467CF77}"/>
              </a:ext>
            </a:extLst>
          </p:cNvPr>
          <p:cNvSpPr/>
          <p:nvPr/>
        </p:nvSpPr>
        <p:spPr>
          <a:xfrm>
            <a:off x="163628" y="305016"/>
            <a:ext cx="9376297" cy="2246769"/>
          </a:xfrm>
          <a:prstGeom prst="rect">
            <a:avLst/>
          </a:prstGeom>
          <a:noFill/>
        </p:spPr>
        <p:txBody>
          <a:bodyPr wrap="square" lIns="91440" tIns="45720" rIns="91440" bIns="45720">
            <a:spAutoFit/>
          </a:bodyPr>
          <a:lstStyle/>
          <a:p>
            <a:r>
              <a:rPr lang="en-US" sz="2000" b="0" cap="none" spc="0" dirty="0">
                <a:ln w="0"/>
                <a:solidFill>
                  <a:schemeClr val="tx1"/>
                </a:solidFill>
                <a:effectLst>
                  <a:outerShdw blurRad="38100" dist="19050" dir="2700000" algn="tl" rotWithShape="0">
                    <a:schemeClr val="dk1">
                      <a:alpha val="40000"/>
                    </a:schemeClr>
                  </a:outerShdw>
                </a:effectLst>
              </a:rPr>
              <a:t>First notebook</a:t>
            </a:r>
          </a:p>
          <a:p>
            <a:endParaRPr lang="en-US" sz="2000" dirty="0">
              <a:ln w="0"/>
              <a:effectLst>
                <a:outerShdw blurRad="38100" dist="19050" dir="2700000" algn="tl" rotWithShape="0">
                  <a:schemeClr val="dk1">
                    <a:alpha val="40000"/>
                  </a:schemeClr>
                </a:outerShdw>
              </a:effectLst>
            </a:endParaRPr>
          </a:p>
          <a:p>
            <a:pPr marL="342900" indent="-342900">
              <a:buFontTx/>
              <a:buChar char="-"/>
            </a:pPr>
            <a:r>
              <a:rPr lang="en-US" sz="2000" b="0" cap="none" spc="0" dirty="0">
                <a:ln w="0"/>
                <a:solidFill>
                  <a:schemeClr val="tx1"/>
                </a:solidFill>
                <a:effectLst>
                  <a:outerShdw blurRad="38100" dist="19050" dir="2700000" algn="tl" rotWithShape="0">
                    <a:schemeClr val="dk1">
                      <a:alpha val="40000"/>
                    </a:schemeClr>
                  </a:outerShdw>
                </a:effectLst>
              </a:rPr>
              <a:t>It invokes the notebook </a:t>
            </a:r>
            <a:r>
              <a:rPr lang="en-US" sz="2000" dirty="0" err="1">
                <a:ln w="0"/>
                <a:effectLst>
                  <a:outerShdw blurRad="38100" dist="19050" dir="2700000" algn="tl" rotWithShape="0">
                    <a:schemeClr val="dk1">
                      <a:alpha val="40000"/>
                    </a:schemeClr>
                  </a:outerShdw>
                </a:effectLst>
              </a:rPr>
              <a:t>PO_bronze_initial_load</a:t>
            </a:r>
            <a:r>
              <a:rPr lang="en-US" sz="2000" dirty="0">
                <a:ln w="0"/>
                <a:effectLst>
                  <a:outerShdw blurRad="38100" dist="19050" dir="2700000" algn="tl" rotWithShape="0">
                    <a:schemeClr val="dk1">
                      <a:alpha val="40000"/>
                    </a:schemeClr>
                  </a:outerShdw>
                </a:effectLst>
              </a:rPr>
              <a:t> which </a:t>
            </a:r>
          </a:p>
          <a:p>
            <a:pPr marL="800100" lvl="1" indent="-342900">
              <a:buFontTx/>
              <a:buChar char="-"/>
            </a:pPr>
            <a:r>
              <a:rPr lang="en-US" sz="2000" dirty="0">
                <a:ln w="0"/>
                <a:effectLst>
                  <a:outerShdw blurRad="38100" dist="19050" dir="2700000" algn="tl" rotWithShape="0">
                    <a:schemeClr val="dk1">
                      <a:alpha val="40000"/>
                    </a:schemeClr>
                  </a:outerShdw>
                </a:effectLst>
              </a:rPr>
              <a:t>reads data from staging layer</a:t>
            </a:r>
          </a:p>
          <a:p>
            <a:pPr marL="800100" lvl="1" indent="-342900">
              <a:buFontTx/>
              <a:buChar char="-"/>
            </a:pPr>
            <a:r>
              <a:rPr lang="en-US" sz="2000" dirty="0">
                <a:ln w="0"/>
                <a:effectLst>
                  <a:outerShdw blurRad="38100" dist="19050" dir="2700000" algn="tl" rotWithShape="0">
                    <a:schemeClr val="dk1">
                      <a:alpha val="40000"/>
                    </a:schemeClr>
                  </a:outerShdw>
                </a:effectLst>
              </a:rPr>
              <a:t>Add two columns valid from and valid to.</a:t>
            </a:r>
          </a:p>
          <a:p>
            <a:pPr marL="800100" lvl="1" indent="-342900">
              <a:buFontTx/>
              <a:buChar char="-"/>
            </a:pPr>
            <a:r>
              <a:rPr lang="en-US" sz="2000" b="0" cap="none" spc="0" dirty="0">
                <a:ln w="0"/>
                <a:solidFill>
                  <a:schemeClr val="tx1"/>
                </a:solidFill>
                <a:effectLst>
                  <a:outerShdw blurRad="38100" dist="19050" dir="2700000" algn="tl" rotWithShape="0">
                    <a:schemeClr val="dk1">
                      <a:alpha val="40000"/>
                    </a:schemeClr>
                  </a:outerShdw>
                </a:effectLst>
              </a:rPr>
              <a:t>Valid from is set the current timestamp</a:t>
            </a:r>
          </a:p>
          <a:p>
            <a:pPr marL="800100" lvl="1" indent="-342900">
              <a:buFontTx/>
              <a:buChar char="-"/>
            </a:pPr>
            <a:r>
              <a:rPr lang="en-US" sz="2000" dirty="0">
                <a:ln w="0"/>
                <a:effectLst>
                  <a:outerShdw blurRad="38100" dist="19050" dir="2700000" algn="tl" rotWithShape="0">
                    <a:schemeClr val="dk1">
                      <a:alpha val="40000"/>
                    </a:schemeClr>
                  </a:outerShdw>
                </a:effectLst>
              </a:rPr>
              <a:t>Valid to is set to null (which means a valid record)</a:t>
            </a:r>
            <a:endParaRPr lang="en-US" sz="2000" b="0" cap="none" spc="0" dirty="0">
              <a:ln w="0"/>
              <a:solidFill>
                <a:schemeClr val="tx1"/>
              </a:solidFill>
              <a:effectLst>
                <a:outerShdw blurRad="38100" dist="19050" dir="2700000" algn="tl" rotWithShape="0">
                  <a:schemeClr val="dk1">
                    <a:alpha val="40000"/>
                  </a:schemeClr>
                </a:outerShdw>
              </a:effectLst>
            </a:endParaRPr>
          </a:p>
        </p:txBody>
      </p:sp>
      <p:sp>
        <p:nvSpPr>
          <p:cNvPr id="9" name="Rectangle 8">
            <a:extLst>
              <a:ext uri="{FF2B5EF4-FFF2-40B4-BE49-F238E27FC236}">
                <a16:creationId xmlns:a16="http://schemas.microsoft.com/office/drawing/2014/main" id="{1FDACE12-EDC0-A7D4-D5B7-667DAFF16C0D}"/>
              </a:ext>
            </a:extLst>
          </p:cNvPr>
          <p:cNvSpPr/>
          <p:nvPr/>
        </p:nvSpPr>
        <p:spPr>
          <a:xfrm>
            <a:off x="239043" y="2802363"/>
            <a:ext cx="8584445" cy="1631216"/>
          </a:xfrm>
          <a:prstGeom prst="rect">
            <a:avLst/>
          </a:prstGeom>
          <a:noFill/>
        </p:spPr>
        <p:txBody>
          <a:bodyPr wrap="square" lIns="91440" tIns="45720" rIns="91440" bIns="45720">
            <a:spAutoFit/>
          </a:bodyPr>
          <a:lstStyle/>
          <a:p>
            <a:r>
              <a:rPr lang="en-US" sz="2000" b="0" cap="none" spc="0" dirty="0">
                <a:ln w="0"/>
                <a:solidFill>
                  <a:schemeClr val="tx1"/>
                </a:solidFill>
                <a:effectLst>
                  <a:outerShdw blurRad="38100" dist="19050" dir="2700000" algn="tl" rotWithShape="0">
                    <a:schemeClr val="dk1">
                      <a:alpha val="40000"/>
                    </a:schemeClr>
                  </a:outerShdw>
                </a:effectLst>
              </a:rPr>
              <a:t>Second notebook</a:t>
            </a:r>
          </a:p>
          <a:p>
            <a:endParaRPr lang="en-US" sz="2000" dirty="0">
              <a:ln w="0"/>
              <a:effectLst>
                <a:outerShdw blurRad="38100" dist="19050" dir="2700000" algn="tl" rotWithShape="0">
                  <a:schemeClr val="dk1">
                    <a:alpha val="40000"/>
                  </a:schemeClr>
                </a:outerShdw>
              </a:effectLst>
            </a:endParaRPr>
          </a:p>
          <a:p>
            <a:pPr marL="342900" indent="-342900">
              <a:buFontTx/>
              <a:buChar char="-"/>
            </a:pPr>
            <a:r>
              <a:rPr lang="en-US" sz="2000" b="0" cap="none" spc="0" dirty="0">
                <a:ln w="0"/>
                <a:solidFill>
                  <a:schemeClr val="tx1"/>
                </a:solidFill>
                <a:effectLst>
                  <a:outerShdw blurRad="38100" dist="19050" dir="2700000" algn="tl" rotWithShape="0">
                    <a:schemeClr val="dk1">
                      <a:alpha val="40000"/>
                    </a:schemeClr>
                  </a:outerShdw>
                </a:effectLst>
              </a:rPr>
              <a:t>It invokes the notebook </a:t>
            </a:r>
            <a:r>
              <a:rPr lang="en-US" sz="2000" dirty="0" err="1">
                <a:ln w="0"/>
                <a:effectLst>
                  <a:outerShdw blurRad="38100" dist="19050" dir="2700000" algn="tl" rotWithShape="0">
                    <a:schemeClr val="dk1">
                      <a:alpha val="40000"/>
                    </a:schemeClr>
                  </a:outerShdw>
                </a:effectLst>
              </a:rPr>
              <a:t>PO_silver_initial_load</a:t>
            </a:r>
            <a:r>
              <a:rPr lang="en-US" sz="2000" dirty="0">
                <a:ln w="0"/>
                <a:effectLst>
                  <a:outerShdw blurRad="38100" dist="19050" dir="2700000" algn="tl" rotWithShape="0">
                    <a:schemeClr val="dk1">
                      <a:alpha val="40000"/>
                    </a:schemeClr>
                  </a:outerShdw>
                </a:effectLst>
              </a:rPr>
              <a:t> </a:t>
            </a:r>
            <a:r>
              <a:rPr lang="en-US" sz="2000" b="0" cap="none" spc="0" dirty="0">
                <a:ln w="0"/>
                <a:solidFill>
                  <a:schemeClr val="tx1"/>
                </a:solidFill>
                <a:effectLst>
                  <a:outerShdw blurRad="38100" dist="19050" dir="2700000" algn="tl" rotWithShape="0">
                    <a:schemeClr val="dk1">
                      <a:alpha val="40000"/>
                    </a:schemeClr>
                  </a:outerShdw>
                </a:effectLst>
              </a:rPr>
              <a:t>which read data from the bronze layer, transform it using spark and save it as a delta table in the silver layer</a:t>
            </a:r>
          </a:p>
        </p:txBody>
      </p:sp>
    </p:spTree>
    <p:extLst>
      <p:ext uri="{BB962C8B-B14F-4D97-AF65-F5344CB8AC3E}">
        <p14:creationId xmlns:p14="http://schemas.microsoft.com/office/powerpoint/2010/main" val="9650617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230</Words>
  <Application>Microsoft Office PowerPoint</Application>
  <PresentationFormat>Widescreen</PresentationFormat>
  <Paragraphs>17</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Aptos</vt:lpstr>
      <vt:lpstr>Aptos Display</vt:lpstr>
      <vt:lpstr>Arial</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Eyad Elnagdy</dc:creator>
  <cp:lastModifiedBy>Eyad Elnagdy</cp:lastModifiedBy>
  <cp:revision>4</cp:revision>
  <dcterms:created xsi:type="dcterms:W3CDTF">2026-05-18T12:41:45Z</dcterms:created>
  <dcterms:modified xsi:type="dcterms:W3CDTF">2026-05-19T09:19:36Z</dcterms:modified>
</cp:coreProperties>
</file>